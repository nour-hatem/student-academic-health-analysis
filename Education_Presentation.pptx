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10.xml" ContentType="application/vnd.openxmlformats-officedocument.drawingml.chart+xml"/>
  <Override PartName="/ppt/charts/chart6.xml" ContentType="application/vnd.openxmlformats-officedocument.drawingml.chart+xml"/>
  <Override PartName="/ppt/charts/chart11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Score Band Distribution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Score Band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e05c2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00c49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2e6cb8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4"/>
                <c:pt idx="0">
                  <c:v>Failing</c:v>
                </c:pt>
                <c:pt idx="1">
                  <c:v>Average</c:v>
                </c:pt>
                <c:pt idx="2">
                  <c:v>Good</c:v>
                </c:pt>
                <c:pt idx="3">
                  <c:v>Excellent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1510</c:v>
                </c:pt>
                <c:pt idx="1">
                  <c:v>4190</c:v>
                </c:pt>
                <c:pt idx="2">
                  <c:v>4320</c:v>
                </c:pt>
                <c:pt idx="3">
                  <c:v>1570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4f6fa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At-Risk Count by Grade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At-Risk</c:v>
                </c:pt>
              </c:strCache>
            </c:strRef>
          </c:tx>
          <c:spPr>
            <a:solidFill>
              <a:srgbClr val="2e6cb8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  <c:pt idx="3">
                  <c:v>Grade 4</c:v>
                </c:pt>
                <c:pt idx="4">
                  <c:v>Grade 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302</c:v>
                </c:pt>
                <c:pt idx="1">
                  <c:v>288</c:v>
                </c:pt>
                <c:pt idx="2">
                  <c:v>311</c:v>
                </c:pt>
                <c:pt idx="3">
                  <c:v>325</c:v>
                </c:pt>
                <c:pt idx="4">
                  <c:v>289</c:v>
                </c:pt>
              </c:numCache>
            </c:numRef>
          </c:val>
        </c:ser>
        <c:gapWidth val="150"/>
        <c:overlap val="0"/>
        <c:axId val="16935270"/>
        <c:axId val="65931158"/>
      </c:barChart>
      <c:catAx>
        <c:axId val="1693527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65931158"/>
        <c:crosses val="autoZero"/>
        <c:auto val="1"/>
        <c:lblAlgn val="ctr"/>
        <c:lblOffset val="100"/>
        <c:noMultiLvlLbl val="0"/>
      </c:catAx>
      <c:valAx>
        <c:axId val="65931158"/>
        <c:scaling>
          <c:orientation val="minMax"/>
        </c:scaling>
        <c:delete val="0"/>
        <c:axPos val="l"/>
        <c:majorGridlines>
          <c:spPr>
            <a:ln w="6480">
              <a:solidFill>
                <a:srgbClr val="dde6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1693527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4f6fa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Attendance Status Distribution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2e6cb8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e05c2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8b5cf6"/>
              </a:solidFill>
              <a:ln w="0">
                <a:noFill/>
              </a:ln>
            </c:spPr>
          </c:dPt>
          <c:dPt>
            <c:idx val="4"/>
            <c:spPr>
              <a:solidFill>
                <a:srgbClr val="00aeef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5"/>
                <c:pt idx="0">
                  <c:v>Present</c:v>
                </c:pt>
                <c:pt idx="1">
                  <c:v>Late</c:v>
                </c:pt>
                <c:pt idx="2">
                  <c:v>Absent</c:v>
                </c:pt>
                <c:pt idx="3">
                  <c:v>Left Early</c:v>
                </c:pt>
                <c:pt idx="4">
                  <c:v>Excused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91614</c:v>
                </c:pt>
                <c:pt idx="1">
                  <c:v>91017</c:v>
                </c:pt>
                <c:pt idx="2">
                  <c:v>91229</c:v>
                </c:pt>
                <c:pt idx="3">
                  <c:v>45435</c:v>
                </c:pt>
                <c:pt idx="4">
                  <c:v>45385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9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4f6fa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Absence &amp; Tardiness by Subject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Absent</c:v>
                </c:pt>
              </c:strCache>
            </c:strRef>
          </c:tx>
          <c:spPr>
            <a:solidFill>
              <a:srgbClr val="e05c2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Math</c:v>
                </c:pt>
                <c:pt idx="1">
                  <c:v>Arabic</c:v>
                </c:pt>
                <c:pt idx="2">
                  <c:v>Science</c:v>
                </c:pt>
                <c:pt idx="3">
                  <c:v>History</c:v>
                </c:pt>
                <c:pt idx="4">
                  <c:v>English</c:v>
                </c:pt>
                <c:pt idx="5">
                  <c:v>Geography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15364</c:v>
                </c:pt>
                <c:pt idx="1">
                  <c:v>15313</c:v>
                </c:pt>
                <c:pt idx="2">
                  <c:v>15167</c:v>
                </c:pt>
                <c:pt idx="3">
                  <c:v>15080</c:v>
                </c:pt>
                <c:pt idx="4">
                  <c:v>15105</c:v>
                </c:pt>
                <c:pt idx="5">
                  <c:v>15200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Late</c:v>
                </c:pt>
              </c:strCache>
            </c:strRef>
          </c:tx>
          <c:spPr>
            <a:solidFill>
              <a:srgbClr val="f59e0b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Math</c:v>
                </c:pt>
                <c:pt idx="1">
                  <c:v>Arabic</c:v>
                </c:pt>
                <c:pt idx="2">
                  <c:v>Science</c:v>
                </c:pt>
                <c:pt idx="3">
                  <c:v>History</c:v>
                </c:pt>
                <c:pt idx="4">
                  <c:v>English</c:v>
                </c:pt>
                <c:pt idx="5">
                  <c:v>Geography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15322</c:v>
                </c:pt>
                <c:pt idx="1">
                  <c:v>15203</c:v>
                </c:pt>
                <c:pt idx="2">
                  <c:v>15282</c:v>
                </c:pt>
                <c:pt idx="3">
                  <c:v>15024</c:v>
                </c:pt>
                <c:pt idx="4">
                  <c:v>15171</c:v>
                </c:pt>
                <c:pt idx="5">
                  <c:v>15015</c:v>
                </c:pt>
              </c:numCache>
            </c:numRef>
          </c:val>
        </c:ser>
        <c:gapWidth val="50"/>
        <c:overlap val="100"/>
        <c:axId val="21623920"/>
        <c:axId val="3655630"/>
      </c:barChart>
      <c:catAx>
        <c:axId val="21623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3655630"/>
        <c:crosses val="autoZero"/>
        <c:auto val="1"/>
        <c:lblAlgn val="ctr"/>
        <c:lblOffset val="100"/>
        <c:noMultiLvlLbl val="0"/>
      </c:catAx>
      <c:valAx>
        <c:axId val="3655630"/>
        <c:scaling>
          <c:orientation val="minMax"/>
        </c:scaling>
        <c:delete val="0"/>
        <c:axPos val="l"/>
        <c:majorGridlines>
          <c:spPr>
            <a:ln w="6480">
              <a:solidFill>
                <a:srgbClr val="dde6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2162392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4f6fa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Homework Completion Status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e05c2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2e6cb8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59e0b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3"/>
                <c:pt idx="0">
                  <c:v>Not Done</c:v>
                </c:pt>
                <c:pt idx="1">
                  <c:v>Done</c:v>
                </c:pt>
                <c:pt idx="2">
                  <c:v>Pending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9880</c:v>
                </c:pt>
                <c:pt idx="1">
                  <c:v>11150</c:v>
                </c:pt>
                <c:pt idx="2">
                  <c:v>6750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4f6fa"/>
    </a:solidFill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Completion Rate by Subject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00aeef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Science</c:v>
                </c:pt>
                <c:pt idx="1">
                  <c:v>English</c:v>
                </c:pt>
                <c:pt idx="2">
                  <c:v>Arabic</c:v>
                </c:pt>
                <c:pt idx="3">
                  <c:v>History</c:v>
                </c:pt>
                <c:pt idx="4">
                  <c:v>Math</c:v>
                </c:pt>
                <c:pt idx="5">
                  <c:v>Geography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49.51</c:v>
                </c:pt>
                <c:pt idx="1">
                  <c:v>49.96</c:v>
                </c:pt>
                <c:pt idx="2">
                  <c:v>49.91</c:v>
                </c:pt>
                <c:pt idx="3">
                  <c:v>49.75</c:v>
                </c:pt>
                <c:pt idx="4">
                  <c:v>50.34</c:v>
                </c:pt>
                <c:pt idx="5">
                  <c:v>50.45</c:v>
                </c:pt>
              </c:numCache>
            </c:numRef>
          </c:val>
        </c:ser>
        <c:gapWidth val="150"/>
        <c:overlap val="0"/>
        <c:axId val="96481453"/>
        <c:axId val="74255344"/>
      </c:barChart>
      <c:catAx>
        <c:axId val="9648145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74255344"/>
        <c:crosses val="autoZero"/>
        <c:auto val="1"/>
        <c:lblAlgn val="ctr"/>
        <c:lblOffset val="100"/>
        <c:noMultiLvlLbl val="0"/>
      </c:catAx>
      <c:valAx>
        <c:axId val="74255344"/>
        <c:scaling>
          <c:orientation val="minMax"/>
          <c:max val="51"/>
          <c:min val="48"/>
        </c:scaling>
        <c:delete val="0"/>
        <c:axPos val="l"/>
        <c:majorGridlines>
          <c:spPr>
            <a:ln w="6480">
              <a:solidFill>
                <a:srgbClr val="dde6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9648145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4f6fa"/>
    </a:solidFill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Student Count by Score Band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e6cb8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2e6cb8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c49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05c2a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8090a8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a2a3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a2a3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a2a3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a2a3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a2a3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Good</c:v>
                </c:pt>
                <c:pt idx="1">
                  <c:v>Average</c:v>
                </c:pt>
                <c:pt idx="2">
                  <c:v>Excellent</c:v>
                </c:pt>
                <c:pt idx="3">
                  <c:v>Failing</c:v>
                </c:pt>
                <c:pt idx="4">
                  <c:v>Unknown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4320</c:v>
                </c:pt>
                <c:pt idx="1">
                  <c:v>4190</c:v>
                </c:pt>
                <c:pt idx="2">
                  <c:v>1570</c:v>
                </c:pt>
                <c:pt idx="3">
                  <c:v>1510</c:v>
                </c:pt>
                <c:pt idx="4">
                  <c:v>580</c:v>
                </c:pt>
              </c:numCache>
            </c:numRef>
          </c:val>
        </c:ser>
        <c:gapWidth val="150"/>
        <c:overlap val="0"/>
        <c:axId val="77459603"/>
        <c:axId val="61157537"/>
      </c:barChart>
      <c:catAx>
        <c:axId val="7745960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61157537"/>
        <c:crosses val="autoZero"/>
        <c:auto val="1"/>
        <c:lblAlgn val="ctr"/>
        <c:lblOffset val="100"/>
        <c:noMultiLvlLbl val="0"/>
      </c:catAx>
      <c:valAx>
        <c:axId val="61157537"/>
        <c:scaling>
          <c:orientation val="minMax"/>
        </c:scaling>
        <c:delete val="0"/>
        <c:axPos val="l"/>
        <c:majorGridlines>
          <c:spPr>
            <a:ln w="6480">
              <a:solidFill>
                <a:srgbClr val="dde6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7745960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4f6fa"/>
    </a:solidFill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Avg Exam Score by Grade Level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0aeef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  <c:pt idx="3">
                  <c:v>Grade 4</c:v>
                </c:pt>
                <c:pt idx="4">
                  <c:v>Grade 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69.81</c:v>
                </c:pt>
                <c:pt idx="1">
                  <c:v>69.85</c:v>
                </c:pt>
                <c:pt idx="2">
                  <c:v>70.24</c:v>
                </c:pt>
                <c:pt idx="3">
                  <c:v>69.92</c:v>
                </c:pt>
                <c:pt idx="4">
                  <c:v>69.95</c:v>
                </c:pt>
              </c:numCache>
            </c:numRef>
          </c:val>
        </c:ser>
        <c:gapWidth val="150"/>
        <c:overlap val="0"/>
        <c:axId val="46899694"/>
        <c:axId val="4866019"/>
      </c:barChart>
      <c:catAx>
        <c:axId val="468996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4866019"/>
        <c:crosses val="autoZero"/>
        <c:auto val="1"/>
        <c:lblAlgn val="ctr"/>
        <c:lblOffset val="100"/>
        <c:noMultiLvlLbl val="0"/>
      </c:catAx>
      <c:valAx>
        <c:axId val="4866019"/>
        <c:scaling>
          <c:orientation val="minMax"/>
          <c:max val="72"/>
          <c:min val="68"/>
        </c:scaling>
        <c:delete val="0"/>
        <c:axPos val="l"/>
        <c:majorGridlines>
          <c:spPr>
            <a:ln w="6480">
              <a:solidFill>
                <a:srgbClr val="dde6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4689969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4f6fa"/>
    </a:solidFill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Message Type Distribution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2e6cb8"/>
              </a:solidFill>
              <a:ln w="0">
                <a:noFill/>
              </a:ln>
            </c:spPr>
          </c:dPt>
          <c:dPt>
            <c:idx val="1"/>
            <c:spPr>
              <a:solidFill>
                <a:srgbClr val="00aeef"/>
              </a:solidFill>
              <a:ln w="0">
                <a:noFill/>
              </a:ln>
            </c:spPr>
          </c:dPt>
          <c:dPt>
            <c:idx val="2"/>
            <c:spPr>
              <a:solidFill>
                <a:srgbClr val="00c49a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3"/>
                <c:pt idx="0">
                  <c:v>Teacher to Parent</c:v>
                </c:pt>
                <c:pt idx="1">
                  <c:v>Automated Reminder</c:v>
                </c:pt>
                <c:pt idx="2">
                  <c:v>Parent to Teacher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8149</c:v>
                </c:pt>
                <c:pt idx="1">
                  <c:v>8106</c:v>
                </c:pt>
                <c:pt idx="2">
                  <c:v>8057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4f6fa"/>
    </a:solidFill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Silent Students % by Grade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Silent %</c:v>
                </c:pt>
              </c:strCache>
            </c:strRef>
          </c:tx>
          <c:spPr>
            <a:solidFill>
              <a:srgbClr val="e05c2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Grade 1</c:v>
                </c:pt>
                <c:pt idx="1">
                  <c:v>Grade 5</c:v>
                </c:pt>
                <c:pt idx="2">
                  <c:v>Grade 4</c:v>
                </c:pt>
                <c:pt idx="3">
                  <c:v>Grade 3</c:v>
                </c:pt>
                <c:pt idx="4">
                  <c:v>Grade 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14.73</c:v>
                </c:pt>
                <c:pt idx="1">
                  <c:v>13.59</c:v>
                </c:pt>
                <c:pt idx="2">
                  <c:v>13.57</c:v>
                </c:pt>
                <c:pt idx="3">
                  <c:v>13</c:v>
                </c:pt>
                <c:pt idx="4">
                  <c:v>12.75</c:v>
                </c:pt>
              </c:numCache>
            </c:numRef>
          </c:val>
        </c:ser>
        <c:gapWidth val="150"/>
        <c:overlap val="0"/>
        <c:axId val="84411996"/>
        <c:axId val="17436650"/>
      </c:barChart>
      <c:catAx>
        <c:axId val="844119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17436650"/>
        <c:crosses val="autoZero"/>
        <c:auto val="1"/>
        <c:lblAlgn val="ctr"/>
        <c:lblOffset val="100"/>
        <c:noMultiLvlLbl val="0"/>
      </c:catAx>
      <c:valAx>
        <c:axId val="17436650"/>
        <c:scaling>
          <c:orientation val="minMax"/>
          <c:max val="16"/>
          <c:min val="11"/>
        </c:scaling>
        <c:delete val="0"/>
        <c:axPos val="l"/>
        <c:majorGridlines>
          <c:spPr>
            <a:ln w="6480">
              <a:solidFill>
                <a:srgbClr val="dde6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8441199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4f6fa"/>
    </a:solidFill>
    <a:ln w="0"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1a2a3a"/>
                </a:solidFill>
                <a:latin typeface="Arial"/>
              </a:defRPr>
            </a:pPr>
            <a:r>
              <a:rPr b="0" sz="1200" spc="-1" strike="noStrike">
                <a:solidFill>
                  <a:srgbClr val="1a2a3a"/>
                </a:solidFill>
                <a:latin typeface="Arial"/>
              </a:rPr>
              <a:t>At-Risk Count by Grade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At-Risk</c:v>
                </c:pt>
              </c:strCache>
            </c:strRef>
          </c:tx>
          <c:spPr>
            <a:solidFill>
              <a:srgbClr val="e05c2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  <c:pt idx="3">
                  <c:v>Grade 4</c:v>
                </c:pt>
                <c:pt idx="4">
                  <c:v>Grade 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302</c:v>
                </c:pt>
                <c:pt idx="1">
                  <c:v>288</c:v>
                </c:pt>
                <c:pt idx="2">
                  <c:v>311</c:v>
                </c:pt>
                <c:pt idx="3">
                  <c:v>325</c:v>
                </c:pt>
                <c:pt idx="4">
                  <c:v>289</c:v>
                </c:pt>
              </c:numCache>
            </c:numRef>
          </c:val>
        </c:ser>
        <c:gapWidth val="150"/>
        <c:overlap val="0"/>
        <c:axId val="65564836"/>
        <c:axId val="48860036"/>
      </c:barChart>
      <c:catAx>
        <c:axId val="655648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48860036"/>
        <c:crosses val="autoZero"/>
        <c:auto val="1"/>
        <c:lblAlgn val="ctr"/>
        <c:lblOffset val="100"/>
        <c:noMultiLvlLbl val="0"/>
      </c:catAx>
      <c:valAx>
        <c:axId val="48860036"/>
        <c:scaling>
          <c:orientation val="minMax"/>
        </c:scaling>
        <c:delete val="0"/>
        <c:axPos val="l"/>
        <c:majorGridlines>
          <c:spPr>
            <a:ln w="6480">
              <a:solidFill>
                <a:srgbClr val="dde6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090a8"/>
                </a:solidFill>
                <a:latin typeface="Arial"/>
              </a:defRPr>
            </a:pPr>
          </a:p>
        </c:txPr>
        <c:crossAx val="6556483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4f6fa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A68EF1D-AA2B-4CC3-B8D4-C0E86F5F06C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77FC0D-D14D-4477-96BB-86832E85C9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A5C627-03AD-44E2-A978-87DA22D531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C9BBEE-4AB0-4ADB-AF77-70ED17852C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F82C2E-67F9-4193-A2C7-9A11535819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68739F-7FCC-41D8-95A5-7B87E81CE9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0E14E1-0168-47BB-AC98-BA1E2ABEDD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3DB19A-6303-4C1B-82EC-6711439168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3CCD46-C373-4E93-AD14-EB94BD4A15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4A3DB7-DD64-407D-9E69-46F9D483C3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5F7B4-F455-41A8-8E05-28F66FBD8F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78BF7-8BBE-4555-A43B-8E6683D1ECD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chart" Target="..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474360" cy="514332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3474720" y="0"/>
            <a:ext cx="54360" cy="51433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74320" y="822960"/>
            <a:ext cx="2925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Calibri Black"/>
                <a:ea typeface="Calibri Black"/>
              </a:rPr>
              <a:t>NTI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82880" y="1874520"/>
            <a:ext cx="31086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aeef"/>
                </a:solidFill>
                <a:latin typeface="Calibri"/>
                <a:ea typeface="Calibri"/>
              </a:rPr>
              <a:t>Academic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aeef"/>
                </a:solidFill>
                <a:latin typeface="Calibri"/>
                <a:ea typeface="Calibri"/>
              </a:rPr>
              <a:t>Success &amp;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aeef"/>
                </a:solidFill>
                <a:latin typeface="Calibri"/>
                <a:ea typeface="Calibri"/>
              </a:rPr>
              <a:t>Intervention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749040" y="128016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Student Academic Health Analysis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749040" y="196596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0c4de"/>
                </a:solidFill>
                <a:latin typeface="Calibri"/>
                <a:ea typeface="Calibri"/>
              </a:rPr>
              <a:t>A full end-to-end data analysis pipeline examining 12,156 students across five grade levels over a complete academic year.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749040" y="3200400"/>
            <a:ext cx="5028840" cy="86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749040" y="33375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Prepared by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257800" y="33375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Nour Hatem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749040" y="36849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Program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257800" y="3684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DEPI x NTI — Data Analysis Track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749040" y="40323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Audience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257800" y="40323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ENG. DONIA — Evaluation Committee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749040" y="43801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Period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257800" y="43801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March 2024 – March 2025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749040" y="46634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aeef"/>
                </a:solidFill>
                <a:latin typeface="Calibri"/>
                <a:ea typeface="Calibri"/>
              </a:rPr>
              <a:t>SQL Server 2025  →  Python 3.12  →  Power BI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Pipeline Architecture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How raw data became actionable insight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365760" y="822960"/>
            <a:ext cx="191988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365760" y="822960"/>
            <a:ext cx="1919880" cy="72720"/>
          </a:xfrm>
          <a:prstGeom prst="rect">
            <a:avLst/>
          </a:prstGeom>
          <a:solidFill>
            <a:srgbClr val="8090a8"/>
          </a:solidFill>
          <a:ln w="12700">
            <a:solidFill>
              <a:srgbClr val="8090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365760" y="86868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8090a8"/>
                </a:solidFill>
                <a:latin typeface="Calibri Black"/>
                <a:ea typeface="Calibri Black"/>
              </a:rPr>
              <a:t>01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457200" y="155448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a3a"/>
                </a:solidFill>
                <a:latin typeface="Calibri"/>
                <a:ea typeface="Calibri"/>
              </a:rPr>
              <a:t>Raw Data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457200" y="19933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5 CSV files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75560" y="2423160"/>
            <a:ext cx="170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students · attendance · homework · performance · communication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2286000" y="2011680"/>
            <a:ext cx="200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6cb8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2487240" y="822960"/>
            <a:ext cx="191988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2487240" y="822960"/>
            <a:ext cx="1919880" cy="72720"/>
          </a:xfrm>
          <a:prstGeom prst="rect">
            <a:avLst/>
          </a:prstGeom>
          <a:solidFill>
            <a:srgbClr val="2e6cb8"/>
          </a:solidFill>
          <a:ln w="12700">
            <a:solidFill>
              <a:srgbClr val="2e6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2487240" y="86868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e6cb8"/>
                </a:solidFill>
                <a:latin typeface="Calibri Black"/>
                <a:ea typeface="Calibri Black"/>
              </a:rPr>
              <a:t>02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2578680" y="155448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a3a"/>
                </a:solidFill>
                <a:latin typeface="Calibri"/>
                <a:ea typeface="Calibri"/>
              </a:rPr>
              <a:t>SQL Server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2578680" y="19933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6cb8"/>
                </a:solidFill>
                <a:latin typeface="Calibri"/>
                <a:ea typeface="Calibri"/>
              </a:rPr>
              <a:t>Storytelling Phase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2597040" y="2423160"/>
            <a:ext cx="170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6-chapter narrative · Quality flags · Business questions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4407480" y="2011680"/>
            <a:ext cx="200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6cb8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608720" y="822960"/>
            <a:ext cx="191988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4608720" y="822960"/>
            <a:ext cx="1919880" cy="72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4608720" y="86868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aeef"/>
                </a:solidFill>
                <a:latin typeface="Calibri Black"/>
                <a:ea typeface="Calibri Black"/>
              </a:rPr>
              <a:t>03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4700160" y="155448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a3a"/>
                </a:solidFill>
                <a:latin typeface="Calibri"/>
                <a:ea typeface="Calibri"/>
              </a:rPr>
              <a:t>Python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4700160" y="19933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Cleaning Phase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4718160" y="2423160"/>
            <a:ext cx="170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Normalization · Feature engineering · Export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6528960" y="2011680"/>
            <a:ext cx="200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6cb8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5"/>
          <p:cNvSpPr/>
          <p:nvPr/>
        </p:nvSpPr>
        <p:spPr>
          <a:xfrm>
            <a:off x="6729840" y="822960"/>
            <a:ext cx="191988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6"/>
          <p:cNvSpPr/>
          <p:nvPr/>
        </p:nvSpPr>
        <p:spPr>
          <a:xfrm>
            <a:off x="6729840" y="822960"/>
            <a:ext cx="1919880" cy="72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6729840" y="86868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c49a"/>
                </a:solidFill>
                <a:latin typeface="Calibri Black"/>
                <a:ea typeface="Calibri Black"/>
              </a:rPr>
              <a:t>04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8"/>
          <p:cNvSpPr/>
          <p:nvPr/>
        </p:nvSpPr>
        <p:spPr>
          <a:xfrm>
            <a:off x="6821280" y="155448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a3a"/>
                </a:solidFill>
                <a:latin typeface="Calibri"/>
                <a:ea typeface="Calibri"/>
              </a:rPr>
              <a:t>Power BI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9"/>
          <p:cNvSpPr/>
          <p:nvPr/>
        </p:nvSpPr>
        <p:spPr>
          <a:xfrm>
            <a:off x="6821280" y="19933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49a"/>
                </a:solidFill>
                <a:latin typeface="Calibri"/>
                <a:ea typeface="Calibri"/>
              </a:rPr>
              <a:t>Dashboard Phase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0"/>
          <p:cNvSpPr/>
          <p:nvPr/>
        </p:nvSpPr>
        <p:spPr>
          <a:xfrm>
            <a:off x="6839640" y="2423160"/>
            <a:ext cx="170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6-page interactive dashboard · ENG. DONIA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1"/>
          <p:cNvSpPr/>
          <p:nvPr/>
        </p:nvSpPr>
        <p:spPr>
          <a:xfrm>
            <a:off x="365760" y="448056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Total Records Processed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2"/>
          <p:cNvSpPr/>
          <p:nvPr/>
        </p:nvSpPr>
        <p:spPr>
          <a:xfrm>
            <a:off x="274320" y="46634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6cb8"/>
                </a:solidFill>
                <a:latin typeface="Calibri"/>
                <a:ea typeface="Calibri"/>
              </a:rPr>
              <a:t>12,156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3"/>
          <p:cNvSpPr/>
          <p:nvPr/>
        </p:nvSpPr>
        <p:spPr>
          <a:xfrm>
            <a:off x="274320" y="48736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Students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4"/>
          <p:cNvSpPr/>
          <p:nvPr/>
        </p:nvSpPr>
        <p:spPr>
          <a:xfrm>
            <a:off x="2011680" y="46634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6cb8"/>
                </a:solidFill>
                <a:latin typeface="Calibri"/>
                <a:ea typeface="Calibri"/>
              </a:rPr>
              <a:t>364,680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5"/>
          <p:cNvSpPr/>
          <p:nvPr/>
        </p:nvSpPr>
        <p:spPr>
          <a:xfrm>
            <a:off x="2011680" y="48736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Attendance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36"/>
          <p:cNvSpPr/>
          <p:nvPr/>
        </p:nvSpPr>
        <p:spPr>
          <a:xfrm>
            <a:off x="3749040" y="46634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6cb8"/>
                </a:solidFill>
                <a:latin typeface="Calibri"/>
                <a:ea typeface="Calibri"/>
              </a:rPr>
              <a:t>60,780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7"/>
          <p:cNvSpPr/>
          <p:nvPr/>
        </p:nvSpPr>
        <p:spPr>
          <a:xfrm>
            <a:off x="3749040" y="48736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Homework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38"/>
          <p:cNvSpPr/>
          <p:nvPr/>
        </p:nvSpPr>
        <p:spPr>
          <a:xfrm>
            <a:off x="5486400" y="46634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6cb8"/>
                </a:solidFill>
                <a:latin typeface="Calibri"/>
                <a:ea typeface="Calibri"/>
              </a:rPr>
              <a:t>36,468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39"/>
          <p:cNvSpPr/>
          <p:nvPr/>
        </p:nvSpPr>
        <p:spPr>
          <a:xfrm>
            <a:off x="5486400" y="48736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Performance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40"/>
          <p:cNvSpPr/>
          <p:nvPr/>
        </p:nvSpPr>
        <p:spPr>
          <a:xfrm>
            <a:off x="7223760" y="46634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6cb8"/>
                </a:solidFill>
                <a:latin typeface="Calibri"/>
                <a:ea typeface="Calibri"/>
              </a:rPr>
              <a:t>24,312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1"/>
          <p:cNvSpPr/>
          <p:nvPr/>
        </p:nvSpPr>
        <p:spPr>
          <a:xfrm>
            <a:off x="7223760" y="48736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Communication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Executive Summary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School health at a glance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274320" y="777240"/>
            <a:ext cx="15998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274320" y="777240"/>
            <a:ext cx="1599840" cy="54360"/>
          </a:xfrm>
          <a:prstGeom prst="rect">
            <a:avLst/>
          </a:prstGeom>
          <a:solidFill>
            <a:srgbClr val="2e6cb8"/>
          </a:solidFill>
          <a:ln w="12700">
            <a:solidFill>
              <a:srgbClr val="2e6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274320" y="887040"/>
            <a:ext cx="1599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6cb8"/>
                </a:solidFill>
                <a:latin typeface="Calibri"/>
                <a:ea typeface="Calibri"/>
              </a:rPr>
              <a:t>12.156K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365760" y="1542600"/>
            <a:ext cx="141696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Total Enrollment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2011680" y="777240"/>
            <a:ext cx="15998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2011680" y="777240"/>
            <a:ext cx="1599840" cy="543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2011680" y="887040"/>
            <a:ext cx="1599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49a"/>
                </a:solidFill>
                <a:latin typeface="Calibri"/>
                <a:ea typeface="Calibri"/>
              </a:rPr>
              <a:t>74.96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2103120" y="1542600"/>
            <a:ext cx="141696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Avg Academic Score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3749040" y="777240"/>
            <a:ext cx="15998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3749040" y="777240"/>
            <a:ext cx="1599840" cy="5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3749040" y="887040"/>
            <a:ext cx="1599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5c2a"/>
                </a:solidFill>
                <a:latin typeface="Calibri"/>
                <a:ea typeface="Calibri"/>
              </a:rPr>
              <a:t>~2K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3840480" y="1542600"/>
            <a:ext cx="141696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At-Risk Students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5486400" y="777240"/>
            <a:ext cx="15998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5486400" y="777240"/>
            <a:ext cx="1599840" cy="5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5486400" y="887040"/>
            <a:ext cx="1599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8b5cf6"/>
                </a:solidFill>
                <a:latin typeface="Calibri"/>
                <a:ea typeface="Calibri"/>
              </a:rPr>
              <a:t>25.12%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5577840" y="1542600"/>
            <a:ext cx="141696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Attendance Rate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0"/>
          <p:cNvSpPr/>
          <p:nvPr/>
        </p:nvSpPr>
        <p:spPr>
          <a:xfrm>
            <a:off x="7223760" y="777240"/>
            <a:ext cx="15998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7223760" y="777240"/>
            <a:ext cx="1599840" cy="54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7223760" y="887040"/>
            <a:ext cx="1599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aeef"/>
                </a:solidFill>
                <a:latin typeface="Calibri"/>
                <a:ea typeface="Calibri"/>
              </a:rPr>
              <a:t>49.99%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3"/>
          <p:cNvSpPr/>
          <p:nvPr/>
        </p:nvSpPr>
        <p:spPr>
          <a:xfrm>
            <a:off x="7315200" y="1542600"/>
            <a:ext cx="141696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HW Completion Rate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0" name="Chart 0"/>
          <p:cNvGraphicFramePr/>
          <p:nvPr/>
        </p:nvGraphicFramePr>
        <p:xfrm>
          <a:off x="274320" y="2148840"/>
          <a:ext cx="4114440" cy="255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1" name="Chart 1"/>
          <p:cNvGraphicFramePr/>
          <p:nvPr/>
        </p:nvGraphicFramePr>
        <p:xfrm>
          <a:off x="4572000" y="2148840"/>
          <a:ext cx="4297320" cy="255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Attendance Analysis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Who is showing up, and when?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" name="Chart 0"/>
          <p:cNvGraphicFramePr/>
          <p:nvPr/>
        </p:nvGraphicFramePr>
        <p:xfrm>
          <a:off x="274320" y="777240"/>
          <a:ext cx="4114440" cy="255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7" name="Chart 1"/>
          <p:cNvGraphicFramePr/>
          <p:nvPr/>
        </p:nvGraphicFramePr>
        <p:xfrm>
          <a:off x="4572000" y="777240"/>
          <a:ext cx="4297320" cy="255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8" name="Shape 4"/>
          <p:cNvSpPr/>
          <p:nvPr/>
        </p:nvSpPr>
        <p:spPr>
          <a:xfrm>
            <a:off x="274320" y="3474720"/>
            <a:ext cx="8595000" cy="1325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502920" y="35478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aeef"/>
                </a:solidFill>
                <a:latin typeface="Calibri"/>
                <a:ea typeface="Calibri"/>
              </a:rPr>
              <a:t>Key Finding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502920" y="385884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aeef"/>
                </a:solidFill>
                <a:latin typeface="Calibri"/>
                <a:ea typeface="Calibri"/>
              </a:rPr>
              <a:t>Only 25.12%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of all records are marked Present — students are fully present in just 1 in 4 sessions. Late arrivals (24.96%) are as frequent as absences (~25%).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Absence is general, not subject-specific.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Homework &amp; Engagement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Are students doing the work?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5" name="Chart 0"/>
          <p:cNvGraphicFramePr/>
          <p:nvPr/>
        </p:nvGraphicFramePr>
        <p:xfrm>
          <a:off x="274320" y="777240"/>
          <a:ext cx="4114440" cy="255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6" name="Chart 1"/>
          <p:cNvGraphicFramePr/>
          <p:nvPr/>
        </p:nvGraphicFramePr>
        <p:xfrm>
          <a:off x="4572000" y="777240"/>
          <a:ext cx="4297320" cy="255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7" name="Shape 4"/>
          <p:cNvSpPr/>
          <p:nvPr/>
        </p:nvSpPr>
        <p:spPr>
          <a:xfrm>
            <a:off x="274320" y="3474720"/>
            <a:ext cx="8595000" cy="1325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02920" y="35478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aeef"/>
                </a:solidFill>
                <a:latin typeface="Calibri"/>
                <a:ea typeface="Calibri"/>
              </a:rPr>
              <a:t>Key Finding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502920" y="385884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aeef"/>
                </a:solidFill>
                <a:latin typeface="Calibri"/>
                <a:ea typeface="Calibri"/>
              </a:rPr>
              <a:t>1 in 3 assignments is never completed.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Science has the lowest completion rate. Guardian-signed assignments show marginally higher completion — suggesting parental involvement has some effect but is not the primary driver of engagement.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Academic Performance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How are students scoring?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27432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274320" y="777240"/>
            <a:ext cx="1965600" cy="54360"/>
          </a:xfrm>
          <a:prstGeom prst="rect">
            <a:avLst/>
          </a:prstGeom>
          <a:solidFill>
            <a:srgbClr val="2e6cb8"/>
          </a:solidFill>
          <a:ln w="12700">
            <a:solidFill>
              <a:srgbClr val="2e6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27432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6cb8"/>
                </a:solidFill>
                <a:latin typeface="Calibri"/>
                <a:ea typeface="Calibri"/>
              </a:rPr>
              <a:t>74.96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36576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School Avg Score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237744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2377440" y="777240"/>
            <a:ext cx="1965600" cy="54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237744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aeef"/>
                </a:solidFill>
                <a:latin typeface="Calibri"/>
                <a:ea typeface="Calibri"/>
              </a:rPr>
              <a:t>40 – 110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246888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Score Range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448056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4480560" y="777240"/>
            <a:ext cx="1965600" cy="543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448056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49a"/>
                </a:solidFill>
                <a:latin typeface="Calibri"/>
                <a:ea typeface="Calibri"/>
              </a:rPr>
              <a:t>12.87%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457200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High Achievers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6"/>
          <p:cNvSpPr/>
          <p:nvPr/>
        </p:nvSpPr>
        <p:spPr>
          <a:xfrm>
            <a:off x="658368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6583680" y="777240"/>
            <a:ext cx="1965600" cy="5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658368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5c2a"/>
                </a:solidFill>
                <a:latin typeface="Calibri"/>
                <a:ea typeface="Calibri"/>
              </a:rPr>
              <a:t>12.41%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667512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Failing Rate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0" name="Chart 0"/>
          <p:cNvGraphicFramePr/>
          <p:nvPr/>
        </p:nvGraphicFramePr>
        <p:xfrm>
          <a:off x="274320" y="2011680"/>
          <a:ext cx="4114440" cy="265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1" name="Chart 1"/>
          <p:cNvGraphicFramePr/>
          <p:nvPr/>
        </p:nvGraphicFramePr>
        <p:xfrm>
          <a:off x="4572000" y="2011680"/>
          <a:ext cx="4297320" cy="265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Parent Communication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Is the school connected to parents?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274320" y="777240"/>
            <a:ext cx="26514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274320" y="777240"/>
            <a:ext cx="2651400" cy="54360"/>
          </a:xfrm>
          <a:prstGeom prst="rect">
            <a:avLst/>
          </a:prstGeom>
          <a:solidFill>
            <a:srgbClr val="2e6cb8"/>
          </a:solidFill>
          <a:ln w="12700">
            <a:solidFill>
              <a:srgbClr val="2e6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274320" y="887040"/>
            <a:ext cx="2651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6cb8"/>
                </a:solidFill>
                <a:latin typeface="Calibri"/>
                <a:ea typeface="Calibri"/>
              </a:rPr>
              <a:t>24K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365760" y="1457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Total Messages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3108960" y="777240"/>
            <a:ext cx="26514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3108960" y="777240"/>
            <a:ext cx="2651400" cy="5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3108960" y="887040"/>
            <a:ext cx="2651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5c2a"/>
                </a:solidFill>
                <a:latin typeface="Calibri"/>
                <a:ea typeface="Calibri"/>
              </a:rPr>
              <a:t>1,644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3200400" y="1457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Silent Students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5943600" y="777240"/>
            <a:ext cx="26514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5943600" y="777240"/>
            <a:ext cx="2651400" cy="5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5943600" y="887040"/>
            <a:ext cx="2651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8b5cf6"/>
                </a:solidFill>
                <a:latin typeface="Calibri"/>
                <a:ea typeface="Calibri"/>
              </a:rPr>
              <a:t>13.5%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035040" y="1457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Communication Gap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8" name="Chart 0"/>
          <p:cNvGraphicFramePr/>
          <p:nvPr/>
        </p:nvGraphicFramePr>
        <p:xfrm>
          <a:off x="274320" y="2011680"/>
          <a:ext cx="4114440" cy="265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9" name="Chart 1"/>
          <p:cNvGraphicFramePr/>
          <p:nvPr/>
        </p:nvGraphicFramePr>
        <p:xfrm>
          <a:off x="4572000" y="2011680"/>
          <a:ext cx="4297320" cy="265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At-Risk Intervention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Who needs action before the year ends?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27432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274320" y="777240"/>
            <a:ext cx="1965600" cy="5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27432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5c2a"/>
                </a:solidFill>
                <a:latin typeface="Calibri"/>
                <a:ea typeface="Calibri"/>
              </a:rPr>
              <a:t>~2K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36576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At-Risk Students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237744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2377440" y="777240"/>
            <a:ext cx="1965600" cy="5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237744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5c2a"/>
                </a:solidFill>
                <a:latin typeface="Calibri"/>
                <a:ea typeface="Calibri"/>
              </a:rPr>
              <a:t>12.41%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246888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% of School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448056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3"/>
          <p:cNvSpPr/>
          <p:nvPr/>
        </p:nvSpPr>
        <p:spPr>
          <a:xfrm>
            <a:off x="4480560" y="777240"/>
            <a:ext cx="1965600" cy="54360"/>
          </a:xfrm>
          <a:prstGeom prst="rect">
            <a:avLst/>
          </a:prstGeom>
          <a:solidFill>
            <a:srgbClr val="2e6cb8"/>
          </a:solidFill>
          <a:ln w="12700">
            <a:solidFill>
              <a:srgbClr val="2e6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448056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6cb8"/>
                </a:solidFill>
                <a:latin typeface="Calibri"/>
                <a:ea typeface="Calibri"/>
              </a:rPr>
              <a:t>54.06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457200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At-Risk Avg Score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6583680" y="777240"/>
            <a:ext cx="19656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7"/>
          <p:cNvSpPr/>
          <p:nvPr/>
        </p:nvSpPr>
        <p:spPr>
          <a:xfrm>
            <a:off x="6583680" y="777240"/>
            <a:ext cx="1965600" cy="5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6583680" y="887040"/>
            <a:ext cx="1965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8b5cf6"/>
                </a:solidFill>
                <a:latin typeface="Calibri"/>
                <a:ea typeface="Calibri"/>
              </a:rPr>
              <a:t>25.27%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6675120" y="1457640"/>
            <a:ext cx="1782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a8"/>
                </a:solidFill>
                <a:latin typeface="Calibri"/>
                <a:ea typeface="Calibri"/>
              </a:rPr>
              <a:t>At-Risk Attendance Rate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0" name="Chart 0"/>
          <p:cNvGraphicFramePr/>
          <p:nvPr/>
        </p:nvGraphicFramePr>
        <p:xfrm>
          <a:off x="274320" y="2011680"/>
          <a:ext cx="4114440" cy="182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1" name="Shape 20"/>
          <p:cNvSpPr/>
          <p:nvPr/>
        </p:nvSpPr>
        <p:spPr>
          <a:xfrm>
            <a:off x="4572000" y="2011680"/>
            <a:ext cx="429732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4572000" y="2011680"/>
            <a:ext cx="4297320" cy="5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4663440" y="20847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3a"/>
                </a:solidFill>
                <a:latin typeface="Calibri"/>
                <a:ea typeface="Calibri"/>
              </a:rPr>
              <a:t>At-Risk Flag Criteria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4663440" y="2487240"/>
            <a:ext cx="2468520" cy="32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4736520" y="2487240"/>
            <a:ext cx="232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Attendance Rate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7178040" y="2487240"/>
            <a:ext cx="1599840" cy="3286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7178040" y="2487240"/>
            <a:ext cx="1599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&lt; 20%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7"/>
          <p:cNvSpPr/>
          <p:nvPr/>
        </p:nvSpPr>
        <p:spPr>
          <a:xfrm>
            <a:off x="4663440" y="2889360"/>
            <a:ext cx="2468520" cy="32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4736520" y="2889360"/>
            <a:ext cx="232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Avg Exam Score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7178040" y="2889360"/>
            <a:ext cx="1599840" cy="3286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0"/>
          <p:cNvSpPr/>
          <p:nvPr/>
        </p:nvSpPr>
        <p:spPr>
          <a:xfrm>
            <a:off x="7178040" y="2889360"/>
            <a:ext cx="1599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&lt; 60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31"/>
          <p:cNvSpPr/>
          <p:nvPr/>
        </p:nvSpPr>
        <p:spPr>
          <a:xfrm>
            <a:off x="4663440" y="3291840"/>
            <a:ext cx="2468520" cy="32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2"/>
          <p:cNvSpPr/>
          <p:nvPr/>
        </p:nvSpPr>
        <p:spPr>
          <a:xfrm>
            <a:off x="4736520" y="3291840"/>
            <a:ext cx="232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Missed Assignments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3"/>
          <p:cNvSpPr/>
          <p:nvPr/>
        </p:nvSpPr>
        <p:spPr>
          <a:xfrm>
            <a:off x="7178040" y="3291840"/>
            <a:ext cx="1599840" cy="3286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34"/>
          <p:cNvSpPr/>
          <p:nvPr/>
        </p:nvSpPr>
        <p:spPr>
          <a:xfrm>
            <a:off x="7178040" y="3291840"/>
            <a:ext cx="1599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&gt;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5"/>
          <p:cNvSpPr/>
          <p:nvPr/>
        </p:nvSpPr>
        <p:spPr>
          <a:xfrm>
            <a:off x="4663440" y="37123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All 3 conditions must be true simultaneously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6"/>
          <p:cNvSpPr/>
          <p:nvPr/>
        </p:nvSpPr>
        <p:spPr>
          <a:xfrm>
            <a:off x="274320" y="3977640"/>
            <a:ext cx="8595000" cy="959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7"/>
          <p:cNvSpPr/>
          <p:nvPr/>
        </p:nvSpPr>
        <p:spPr>
          <a:xfrm>
            <a:off x="457200" y="4069080"/>
            <a:ext cx="832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aeef"/>
                </a:solidFill>
                <a:latin typeface="Calibri"/>
                <a:ea typeface="Calibri"/>
              </a:rPr>
              <a:t>Most at-risk students have parent communication records.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Communication is happening but not translating into improvement. The intervention strategy needs to change — not just its frequency.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Data Quality Issues &amp; Fixes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What we found and how we resolved 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4"/>
          <p:cNvSpPr/>
          <p:nvPr/>
        </p:nvSpPr>
        <p:spPr>
          <a:xfrm>
            <a:off x="274320" y="822960"/>
            <a:ext cx="8595000" cy="69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274320" y="822960"/>
            <a:ext cx="72720" cy="694440"/>
          </a:xfrm>
          <a:prstGeom prst="rect">
            <a:avLst/>
          </a:prstGeom>
          <a:solidFill>
            <a:srgbClr val="2e6cb8"/>
          </a:solidFill>
          <a:ln w="12700">
            <a:solidFill>
              <a:srgbClr val="2e6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502920" y="8596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Date_of_Birth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502920" y="11703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Two date formats (ISO &amp; US)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3154680" y="85968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Issue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9"/>
          <p:cNvSpPr/>
          <p:nvPr/>
        </p:nvSpPr>
        <p:spPr>
          <a:xfrm>
            <a:off x="3154680" y="1024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6cb8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3611880" y="85968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Fix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3611880" y="1097280"/>
            <a:ext cx="516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6cb8"/>
                </a:solidFill>
                <a:latin typeface="Calibri"/>
                <a:ea typeface="Calibri"/>
              </a:rPr>
              <a:t>pd.to_datetime(format='mixed')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2"/>
          <p:cNvSpPr/>
          <p:nvPr/>
        </p:nvSpPr>
        <p:spPr>
          <a:xfrm>
            <a:off x="274320" y="1609200"/>
            <a:ext cx="8595000" cy="69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3"/>
          <p:cNvSpPr/>
          <p:nvPr/>
        </p:nvSpPr>
        <p:spPr>
          <a:xfrm>
            <a:off x="274320" y="1609200"/>
            <a:ext cx="72720" cy="694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502920" y="1645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Attendance_Status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502920" y="1956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Casing inconsistencies + 'absnt' typo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3154680" y="16459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Issue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3154680" y="1810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aeef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8"/>
          <p:cNvSpPr/>
          <p:nvPr/>
        </p:nvSpPr>
        <p:spPr>
          <a:xfrm>
            <a:off x="3611880" y="164592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Fix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3611880" y="1883520"/>
            <a:ext cx="516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str.upper() + map + ABSNT→ABSENT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0"/>
          <p:cNvSpPr/>
          <p:nvPr/>
        </p:nvSpPr>
        <p:spPr>
          <a:xfrm>
            <a:off x="274320" y="2395800"/>
            <a:ext cx="8595000" cy="69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1"/>
          <p:cNvSpPr/>
          <p:nvPr/>
        </p:nvSpPr>
        <p:spPr>
          <a:xfrm>
            <a:off x="274320" y="2395800"/>
            <a:ext cx="72720" cy="694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2"/>
          <p:cNvSpPr/>
          <p:nvPr/>
        </p:nvSpPr>
        <p:spPr>
          <a:xfrm>
            <a:off x="502920" y="24321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homework.Status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502920" y="27432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Emoji + text variants mixed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3154680" y="243216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Issue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3154680" y="2597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c49a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6"/>
          <p:cNvSpPr/>
          <p:nvPr/>
        </p:nvSpPr>
        <p:spPr>
          <a:xfrm>
            <a:off x="3611880" y="24321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Fix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3611880" y="2670120"/>
            <a:ext cx="516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49a"/>
                </a:solidFill>
                <a:latin typeface="Calibri"/>
                <a:ea typeface="Calibri"/>
              </a:rPr>
              <a:t>Set-based mapping → Done | Not Done | Pending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8"/>
          <p:cNvSpPr/>
          <p:nvPr/>
        </p:nvSpPr>
        <p:spPr>
          <a:xfrm>
            <a:off x="274320" y="3182040"/>
            <a:ext cx="8595000" cy="69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9"/>
          <p:cNvSpPr/>
          <p:nvPr/>
        </p:nvSpPr>
        <p:spPr>
          <a:xfrm>
            <a:off x="274320" y="3182040"/>
            <a:ext cx="72720" cy="69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0"/>
          <p:cNvSpPr/>
          <p:nvPr/>
        </p:nvSpPr>
        <p:spPr>
          <a:xfrm>
            <a:off x="502920" y="3218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Guardian_Signature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1"/>
          <p:cNvSpPr/>
          <p:nvPr/>
        </p:nvSpPr>
        <p:spPr>
          <a:xfrm>
            <a:off x="502920" y="35294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Imported as BIT — blanks not NULL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2"/>
          <p:cNvSpPr/>
          <p:nvPr/>
        </p:nvSpPr>
        <p:spPr>
          <a:xfrm>
            <a:off x="3154680" y="321876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Issue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3"/>
          <p:cNvSpPr/>
          <p:nvPr/>
        </p:nvSpPr>
        <p:spPr>
          <a:xfrm>
            <a:off x="315468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34"/>
          <p:cNvSpPr/>
          <p:nvPr/>
        </p:nvSpPr>
        <p:spPr>
          <a:xfrm>
            <a:off x="3611880" y="32187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Fix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35"/>
          <p:cNvSpPr/>
          <p:nvPr/>
        </p:nvSpPr>
        <p:spPr>
          <a:xfrm>
            <a:off x="3611880" y="3456360"/>
            <a:ext cx="516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Calibri"/>
              </a:rPr>
              <a:t>CAST in SQL + fillna(False) in Python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36"/>
          <p:cNvSpPr/>
          <p:nvPr/>
        </p:nvSpPr>
        <p:spPr>
          <a:xfrm>
            <a:off x="274320" y="3968640"/>
            <a:ext cx="8595000" cy="69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7"/>
          <p:cNvSpPr/>
          <p:nvPr/>
        </p:nvSpPr>
        <p:spPr>
          <a:xfrm>
            <a:off x="274320" y="3968640"/>
            <a:ext cx="72720" cy="69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38"/>
          <p:cNvSpPr/>
          <p:nvPr/>
        </p:nvSpPr>
        <p:spPr>
          <a:xfrm>
            <a:off x="502920" y="4005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a3a"/>
                </a:solidFill>
                <a:latin typeface="Calibri"/>
                <a:ea typeface="Calibri"/>
              </a:rPr>
              <a:t>Homework_Completion_%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39"/>
          <p:cNvSpPr/>
          <p:nvPr/>
        </p:nvSpPr>
        <p:spPr>
          <a:xfrm>
            <a:off x="502920" y="43160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-5 invalid values + mixed % suffix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0"/>
          <p:cNvSpPr/>
          <p:nvPr/>
        </p:nvSpPr>
        <p:spPr>
          <a:xfrm>
            <a:off x="3154680" y="400500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Issue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41"/>
          <p:cNvSpPr/>
          <p:nvPr/>
        </p:nvSpPr>
        <p:spPr>
          <a:xfrm>
            <a:off x="3154680" y="41695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b5cf6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42"/>
          <p:cNvSpPr/>
          <p:nvPr/>
        </p:nvSpPr>
        <p:spPr>
          <a:xfrm>
            <a:off x="3611880" y="40050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Fix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43"/>
          <p:cNvSpPr/>
          <p:nvPr/>
        </p:nvSpPr>
        <p:spPr>
          <a:xfrm>
            <a:off x="3611880" y="4242960"/>
            <a:ext cx="5166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b5cf6"/>
                </a:solidFill>
                <a:latin typeface="Calibri"/>
                <a:ea typeface="Calibri"/>
              </a:rPr>
              <a:t>Strip %, cast float, -5 → NaN, subject median fill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365760" y="0"/>
            <a:ext cx="6857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Recommendations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0" y="0"/>
            <a:ext cx="8777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eef"/>
                </a:solidFill>
                <a:latin typeface="Calibri"/>
                <a:ea typeface="Calibri"/>
              </a:rPr>
              <a:t>What the data is telling us to do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274320" y="82296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5"/>
          <p:cNvSpPr/>
          <p:nvPr/>
        </p:nvSpPr>
        <p:spPr>
          <a:xfrm>
            <a:off x="274320" y="822960"/>
            <a:ext cx="4205880" cy="63720"/>
          </a:xfrm>
          <a:prstGeom prst="rect">
            <a:avLst/>
          </a:prstGeom>
          <a:solidFill>
            <a:srgbClr val="2e6cb8"/>
          </a:solidFill>
          <a:ln w="12700">
            <a:solidFill>
              <a:srgbClr val="2e6c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384120" y="9144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6cb8"/>
                </a:solidFill>
                <a:latin typeface="Calibri Black"/>
                <a:ea typeface="Calibri Black"/>
              </a:rPr>
              <a:t>01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896040" y="91440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3a"/>
                </a:solidFill>
                <a:latin typeface="Calibri"/>
                <a:ea typeface="Calibri"/>
              </a:rPr>
              <a:t>Deploy the Intervention List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384120" y="1334880"/>
            <a:ext cx="397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Use the At-Risk page as a live working tool. Each row is a student requiring a direct conversation before year-end.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9"/>
          <p:cNvSpPr/>
          <p:nvPr/>
        </p:nvSpPr>
        <p:spPr>
          <a:xfrm>
            <a:off x="274320" y="221292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0"/>
          <p:cNvSpPr/>
          <p:nvPr/>
        </p:nvSpPr>
        <p:spPr>
          <a:xfrm>
            <a:off x="274320" y="2212920"/>
            <a:ext cx="4205880" cy="637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384120" y="23043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5c2a"/>
                </a:solidFill>
                <a:latin typeface="Calibri Black"/>
                <a:ea typeface="Calibri Black"/>
              </a:rPr>
              <a:t>02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896040" y="230436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3a"/>
                </a:solidFill>
                <a:latin typeface="Calibri"/>
                <a:ea typeface="Calibri"/>
              </a:rPr>
              <a:t>Fix Grade 1 Communication Gap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384120" y="2724840"/>
            <a:ext cx="397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14.73% of Grade 1 students have zero contact. Youngest students need the most parental engagement — build a structured onboarding protocol.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4"/>
          <p:cNvSpPr/>
          <p:nvPr/>
        </p:nvSpPr>
        <p:spPr>
          <a:xfrm>
            <a:off x="274320" y="360288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5"/>
          <p:cNvSpPr/>
          <p:nvPr/>
        </p:nvSpPr>
        <p:spPr>
          <a:xfrm>
            <a:off x="274320" y="3602880"/>
            <a:ext cx="4205880" cy="63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6"/>
          <p:cNvSpPr/>
          <p:nvPr/>
        </p:nvSpPr>
        <p:spPr>
          <a:xfrm>
            <a:off x="384120" y="36943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b5cf6"/>
                </a:solidFill>
                <a:latin typeface="Calibri Black"/>
                <a:ea typeface="Calibri Black"/>
              </a:rPr>
              <a:t>03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896040" y="369432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3a"/>
                </a:solidFill>
                <a:latin typeface="Calibri"/>
                <a:ea typeface="Calibri"/>
              </a:rPr>
              <a:t>Rethink Communication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384120" y="4114800"/>
            <a:ext cx="397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~200 at-risk students have active contact but declining performance. Volume is not the problem — quality and follow-through are.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9"/>
          <p:cNvSpPr/>
          <p:nvPr/>
        </p:nvSpPr>
        <p:spPr>
          <a:xfrm>
            <a:off x="4709160" y="82296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0"/>
          <p:cNvSpPr/>
          <p:nvPr/>
        </p:nvSpPr>
        <p:spPr>
          <a:xfrm>
            <a:off x="4709160" y="822960"/>
            <a:ext cx="4205880" cy="63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21"/>
          <p:cNvSpPr/>
          <p:nvPr/>
        </p:nvSpPr>
        <p:spPr>
          <a:xfrm>
            <a:off x="4818960" y="9144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aeef"/>
                </a:solidFill>
                <a:latin typeface="Calibri Black"/>
                <a:ea typeface="Calibri Black"/>
              </a:rPr>
              <a:t>04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2"/>
          <p:cNvSpPr/>
          <p:nvPr/>
        </p:nvSpPr>
        <p:spPr>
          <a:xfrm>
            <a:off x="5330880" y="91440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3a"/>
                </a:solidFill>
                <a:latin typeface="Calibri"/>
                <a:ea typeface="Calibri"/>
              </a:rPr>
              <a:t>Fix Data at Entry Point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3"/>
          <p:cNvSpPr/>
          <p:nvPr/>
        </p:nvSpPr>
        <p:spPr>
          <a:xfrm>
            <a:off x="4818960" y="1334880"/>
            <a:ext cx="397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Attendance typos, emoji status fields, and mixed date formats indicate no input validation. Standardize at source before the next year.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4"/>
          <p:cNvSpPr/>
          <p:nvPr/>
        </p:nvSpPr>
        <p:spPr>
          <a:xfrm>
            <a:off x="4709160" y="221292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5"/>
          <p:cNvSpPr/>
          <p:nvPr/>
        </p:nvSpPr>
        <p:spPr>
          <a:xfrm>
            <a:off x="4709160" y="2212920"/>
            <a:ext cx="4205880" cy="63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26"/>
          <p:cNvSpPr/>
          <p:nvPr/>
        </p:nvSpPr>
        <p:spPr>
          <a:xfrm>
            <a:off x="4818960" y="23043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c49a"/>
                </a:solidFill>
                <a:latin typeface="Calibri Black"/>
                <a:ea typeface="Calibri Black"/>
              </a:rPr>
              <a:t>05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7"/>
          <p:cNvSpPr/>
          <p:nvPr/>
        </p:nvSpPr>
        <p:spPr>
          <a:xfrm>
            <a:off x="5330880" y="230436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3a"/>
                </a:solidFill>
                <a:latin typeface="Calibri"/>
                <a:ea typeface="Calibri"/>
              </a:rPr>
              <a:t>Build a Trend Detection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8"/>
          <p:cNvSpPr/>
          <p:nvPr/>
        </p:nvSpPr>
        <p:spPr>
          <a:xfrm>
            <a:off x="4818960" y="2724840"/>
            <a:ext cx="397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Add individual-level attendance trend monitoring. Flag students before they cross the at-risk threshold, not after.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9"/>
          <p:cNvSpPr/>
          <p:nvPr/>
        </p:nvSpPr>
        <p:spPr>
          <a:xfrm>
            <a:off x="4709160" y="360288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30"/>
          <p:cNvSpPr/>
          <p:nvPr/>
        </p:nvSpPr>
        <p:spPr>
          <a:xfrm>
            <a:off x="4709160" y="3602880"/>
            <a:ext cx="4205880" cy="63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1"/>
          <p:cNvSpPr/>
          <p:nvPr/>
        </p:nvSpPr>
        <p:spPr>
          <a:xfrm>
            <a:off x="4818960" y="36943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59e0b"/>
                </a:solidFill>
                <a:latin typeface="Calibri Black"/>
                <a:ea typeface="Calibri Black"/>
              </a:rPr>
              <a:t>06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2"/>
          <p:cNvSpPr/>
          <p:nvPr/>
        </p:nvSpPr>
        <p:spPr>
          <a:xfrm>
            <a:off x="5330880" y="369432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3a"/>
                </a:solidFill>
                <a:latin typeface="Calibri"/>
                <a:ea typeface="Calibri"/>
              </a:rPr>
              <a:t>Subject-Level Performance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3"/>
          <p:cNvSpPr/>
          <p:nvPr/>
        </p:nvSpPr>
        <p:spPr>
          <a:xfrm>
            <a:off x="4818960" y="4114800"/>
            <a:ext cx="397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Determine whether a student's low score is isolated to one subject or signals a broader academic decline across all subjects.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457200" y="54864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 Black"/>
                <a:ea typeface="Calibri Black"/>
              </a:rPr>
              <a:t>Thank You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457200" y="1600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aeef"/>
                </a:solidFill>
                <a:latin typeface="Calibri"/>
                <a:ea typeface="Calibri"/>
              </a:rPr>
              <a:t>NTI Academic Success &amp; Intervention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3200400" y="2240280"/>
            <a:ext cx="2743200" cy="360"/>
          </a:xfrm>
          <a:prstGeom prst="line">
            <a:avLst/>
          </a:prstGeom>
          <a:ln w="12700">
            <a:solidFill>
              <a:srgbClr val="00a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457200" y="23774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aeef"/>
                </a:solidFill>
                <a:latin typeface="Calibri"/>
                <a:ea typeface="Calibri"/>
              </a:rPr>
              <a:t>Portfolio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457200" y="26517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nourhatem.netlify.app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2651760" y="23774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aeef"/>
                </a:solidFill>
                <a:latin typeface="Calibri"/>
                <a:ea typeface="Calibri"/>
              </a:rPr>
              <a:t>LinkedIn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2651760" y="26517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linkedin.com/in/nour-hatem-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4846320" y="23774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aeef"/>
                </a:solidFill>
                <a:latin typeface="Calibri"/>
                <a:ea typeface="Calibri"/>
              </a:rPr>
              <a:t>Kaggle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1"/>
          <p:cNvSpPr/>
          <p:nvPr/>
        </p:nvSpPr>
        <p:spPr>
          <a:xfrm>
            <a:off x="4846320" y="26517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kaggle.com/nourelhashash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7040880" y="23774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aeef"/>
                </a:solidFill>
                <a:latin typeface="Calibri"/>
                <a:ea typeface="Calibri"/>
              </a:rPr>
              <a:t>GitHub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3"/>
          <p:cNvSpPr/>
          <p:nvPr/>
        </p:nvSpPr>
        <p:spPr>
          <a:xfrm>
            <a:off x="7040880" y="26517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github.com/nour-hatem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4"/>
          <p:cNvSpPr/>
          <p:nvPr/>
        </p:nvSpPr>
        <p:spPr>
          <a:xfrm>
            <a:off x="731520" y="3246120"/>
            <a:ext cx="1645560" cy="1188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731520" y="33102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eef"/>
                </a:solidFill>
                <a:latin typeface="Calibri Black"/>
                <a:ea typeface="Calibri Black"/>
              </a:rPr>
              <a:t>12,156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731520" y="393192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Students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17"/>
          <p:cNvSpPr/>
          <p:nvPr/>
        </p:nvSpPr>
        <p:spPr>
          <a:xfrm>
            <a:off x="2743200" y="3246120"/>
            <a:ext cx="1645560" cy="1188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8"/>
          <p:cNvSpPr/>
          <p:nvPr/>
        </p:nvSpPr>
        <p:spPr>
          <a:xfrm>
            <a:off x="2743200" y="33102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eef"/>
                </a:solidFill>
                <a:latin typeface="Calibri Black"/>
                <a:ea typeface="Calibri Black"/>
              </a:rPr>
              <a:t>~2K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9"/>
          <p:cNvSpPr/>
          <p:nvPr/>
        </p:nvSpPr>
        <p:spPr>
          <a:xfrm>
            <a:off x="2743200" y="393192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At-Risk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0"/>
          <p:cNvSpPr/>
          <p:nvPr/>
        </p:nvSpPr>
        <p:spPr>
          <a:xfrm>
            <a:off x="4754880" y="3246120"/>
            <a:ext cx="1645560" cy="1188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4754880" y="33102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eef"/>
                </a:solidFill>
                <a:latin typeface="Calibri Black"/>
                <a:ea typeface="Calibri Black"/>
              </a:rPr>
              <a:t>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4754880" y="393192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Dashboard Pages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23"/>
          <p:cNvSpPr/>
          <p:nvPr/>
        </p:nvSpPr>
        <p:spPr>
          <a:xfrm>
            <a:off x="6766560" y="3246120"/>
            <a:ext cx="1645560" cy="1188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4"/>
          <p:cNvSpPr/>
          <p:nvPr/>
        </p:nvSpPr>
        <p:spPr>
          <a:xfrm>
            <a:off x="6766560" y="33102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eef"/>
                </a:solidFill>
                <a:latin typeface="Calibri Black"/>
                <a:ea typeface="Calibri Black"/>
              </a:rPr>
              <a:t>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25"/>
          <p:cNvSpPr/>
          <p:nvPr/>
        </p:nvSpPr>
        <p:spPr>
          <a:xfrm>
            <a:off x="6766560" y="393192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90a8"/>
                </a:solidFill>
                <a:latin typeface="Calibri"/>
                <a:ea typeface="Calibri"/>
              </a:rPr>
              <a:t>Pipeline Phases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6"/>
          <p:cNvSpPr/>
          <p:nvPr/>
        </p:nvSpPr>
        <p:spPr>
          <a:xfrm>
            <a:off x="457200" y="473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090a8"/>
                </a:solidFill>
                <a:latin typeface="Calibri"/>
                <a:ea typeface="Calibri"/>
              </a:rPr>
              <a:t>DEPI x NTI — Data Analysis Track  |  ENG. DONIA — Evaluation Committee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2026-05-06T06:01:11Z</dcterms:created>
  <dc:creator>Nour Hatem</dc:creator>
  <dc:description/>
  <dc:language>en-US</dc:language>
  <cp:lastModifiedBy/>
  <dcterms:modified xsi:type="dcterms:W3CDTF">2026-05-06T11:30:55Z</dcterms:modified>
  <cp:revision>3</cp:revision>
  <dc:subject>PptxGenJS Presentation</dc:subject>
  <dc:title>NTI Academic Success &amp; Intervention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