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Score Band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 Band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C2A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00C49A"/>
              </a:solidFill>
              <a:effectLst/>
            </c:spPr>
          </c:dPt>
          <c:dPt>
            <c:idx val="3"/>
            <c:bubble3D val="0"/>
            <c:spPr>
              <a:solidFill>
                <a:srgbClr val="2E6C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Failing</c:v>
                </c:pt>
                <c:pt idx="1">
                  <c:v>Average</c:v>
                </c:pt>
                <c:pt idx="2">
                  <c:v>Good</c:v>
                </c:pt>
                <c:pt idx="3">
                  <c:v>Excellent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1510</c:v>
                </c:pt>
                <c:pt idx="1">
                  <c:v>4190</c:v>
                </c:pt>
                <c:pt idx="2">
                  <c:v>4320</c:v>
                </c:pt>
                <c:pt idx="3">
                  <c:v>1570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At-Risk Count by Grade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At-Risk</c:v>
                </c:pt>
              </c:strCache>
            </c:strRef>
          </c:tx>
          <c:spPr>
            <a:solidFill>
              <a:srgbClr val="2E6C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Grade 1</c:v>
                  </c:pt>
                  <c:pt idx="1">
                    <c:v>Grade 2</c:v>
                  </c:pt>
                  <c:pt idx="2">
                    <c:v>Grade 3</c:v>
                  </c:pt>
                  <c:pt idx="3">
                    <c:v>Grade 4</c:v>
                  </c:pt>
                  <c:pt idx="4">
                    <c:v>Grade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288</c:v>
                </c:pt>
                <c:pt idx="2">
                  <c:v>311</c:v>
                </c:pt>
                <c:pt idx="3">
                  <c:v>325</c:v>
                </c:pt>
                <c:pt idx="4">
                  <c:v>289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Attendance Status Distribution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6CB8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E05C2A"/>
              </a:solidFill>
              <a:effectLst/>
            </c:spPr>
          </c:dPt>
          <c:dPt>
            <c:idx val="3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bubble3D val="0"/>
            <c:spPr>
              <a:solidFill>
                <a:srgbClr val="00AEE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Present</c:v>
                </c:pt>
                <c:pt idx="1">
                  <c:v>Late</c:v>
                </c:pt>
                <c:pt idx="2">
                  <c:v>Absent</c:v>
                </c:pt>
                <c:pt idx="3">
                  <c:v>Left Early</c:v>
                </c:pt>
                <c:pt idx="4">
                  <c:v>Excused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91614</c:v>
                </c:pt>
                <c:pt idx="1">
                  <c:v>91017</c:v>
                </c:pt>
                <c:pt idx="2">
                  <c:v>91229</c:v>
                </c:pt>
                <c:pt idx="3">
                  <c:v>45435</c:v>
                </c:pt>
                <c:pt idx="4">
                  <c:v>45385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Absence &amp; Tardiness by Subject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Absent</c:v>
                </c:pt>
              </c:strCache>
            </c:strRef>
          </c:tx>
          <c:spPr>
            <a:solidFill>
              <a:srgbClr val="E05C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Math</c:v>
                  </c:pt>
                  <c:pt idx="1">
                    <c:v>Arabic</c:v>
                  </c:pt>
                  <c:pt idx="2">
                    <c:v>Science</c:v>
                  </c:pt>
                  <c:pt idx="3">
                    <c:v>History</c:v>
                  </c:pt>
                  <c:pt idx="4">
                    <c:v>English</c:v>
                  </c:pt>
                  <c:pt idx="5">
                    <c:v>Geography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15364</c:v>
                </c:pt>
                <c:pt idx="1">
                  <c:v>15313</c:v>
                </c:pt>
                <c:pt idx="2">
                  <c:v>15167</c:v>
                </c:pt>
                <c:pt idx="3">
                  <c:v>15080</c:v>
                </c:pt>
                <c:pt idx="4">
                  <c:v>15105</c:v>
                </c:pt>
                <c:pt idx="5">
                  <c:v>15200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Math</c:v>
                  </c:pt>
                  <c:pt idx="1">
                    <c:v>Arabic</c:v>
                  </c:pt>
                  <c:pt idx="2">
                    <c:v>Science</c:v>
                  </c:pt>
                  <c:pt idx="3">
                    <c:v>History</c:v>
                  </c:pt>
                  <c:pt idx="4">
                    <c:v>English</c:v>
                  </c:pt>
                  <c:pt idx="5">
                    <c:v>Geography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15322</c:v>
                </c:pt>
                <c:pt idx="1">
                  <c:v>15203</c:v>
                </c:pt>
                <c:pt idx="2">
                  <c:v>15282</c:v>
                </c:pt>
                <c:pt idx="3">
                  <c:v>15024</c:v>
                </c:pt>
                <c:pt idx="4">
                  <c:v>15171</c:v>
                </c:pt>
                <c:pt idx="5">
                  <c:v>15015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Homework Completion Status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C2A"/>
              </a:solidFill>
              <a:effectLst/>
            </c:spPr>
          </c:dPt>
          <c:dPt>
            <c:idx val="1"/>
            <c:bubble3D val="0"/>
            <c:spPr>
              <a:solidFill>
                <a:srgbClr val="2E6CB8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Not Done</c:v>
                </c:pt>
                <c:pt idx="1">
                  <c:v>Done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9880</c:v>
                </c:pt>
                <c:pt idx="1">
                  <c:v>11150</c:v>
                </c:pt>
                <c:pt idx="2">
                  <c:v>6750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Completion Rate by Subject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%</c:v>
                </c:pt>
              </c:strCache>
            </c:strRef>
          </c:tx>
          <c:spPr>
            <a:solidFill>
              <a:srgbClr val="00AE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Science</c:v>
                  </c:pt>
                  <c:pt idx="1">
                    <c:v>English</c:v>
                  </c:pt>
                  <c:pt idx="2">
                    <c:v>Arabic</c:v>
                  </c:pt>
                  <c:pt idx="3">
                    <c:v>History</c:v>
                  </c:pt>
                  <c:pt idx="4">
                    <c:v>Math</c:v>
                  </c:pt>
                  <c:pt idx="5">
                    <c:v>Geography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49.51</c:v>
                </c:pt>
                <c:pt idx="1">
                  <c:v>49.96</c:v>
                </c:pt>
                <c:pt idx="2">
                  <c:v>49.91</c:v>
                </c:pt>
                <c:pt idx="3">
                  <c:v>49.75</c:v>
                </c:pt>
                <c:pt idx="4">
                  <c:v>50.34</c:v>
                </c:pt>
                <c:pt idx="5">
                  <c:v>50.45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1"/>
          <c:min val="48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Student Count by Score Band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2E6C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6C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4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5C2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090A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Good</c:v>
                  </c:pt>
                  <c:pt idx="1">
                    <c:v>Average</c:v>
                  </c:pt>
                  <c:pt idx="2">
                    <c:v>Excellent</c:v>
                  </c:pt>
                  <c:pt idx="3">
                    <c:v>Failing</c:v>
                  </c:pt>
                  <c:pt idx="4">
                    <c:v>Unknown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4320</c:v>
                </c:pt>
                <c:pt idx="1">
                  <c:v>4190</c:v>
                </c:pt>
                <c:pt idx="2">
                  <c:v>1570</c:v>
                </c:pt>
                <c:pt idx="3">
                  <c:v>1510</c:v>
                </c:pt>
                <c:pt idx="4">
                  <c:v>580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Avg Exam Score by Grade Level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Score</c:v>
                </c:pt>
              </c:strCache>
            </c:strRef>
          </c:tx>
          <c:spPr>
            <a:solidFill>
              <a:srgbClr val="00AE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Grade 1</c:v>
                  </c:pt>
                  <c:pt idx="1">
                    <c:v>Grade 2</c:v>
                  </c:pt>
                  <c:pt idx="2">
                    <c:v>Grade 3</c:v>
                  </c:pt>
                  <c:pt idx="3">
                    <c:v>Grade 4</c:v>
                  </c:pt>
                  <c:pt idx="4">
                    <c:v>Grade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69.81</c:v>
                </c:pt>
                <c:pt idx="1">
                  <c:v>69.85</c:v>
                </c:pt>
                <c:pt idx="2">
                  <c:v>70.24</c:v>
                </c:pt>
                <c:pt idx="3">
                  <c:v>69.92</c:v>
                </c:pt>
                <c:pt idx="4">
                  <c:v>69.95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68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Message Type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6CB8"/>
              </a:solidFill>
              <a:effectLst/>
            </c:spPr>
          </c:dPt>
          <c:dPt>
            <c:idx val="1"/>
            <c:bubble3D val="0"/>
            <c:spPr>
              <a:solidFill>
                <a:srgbClr val="00AEEF"/>
              </a:solidFill>
              <a:effectLst/>
            </c:spPr>
          </c:dPt>
          <c:dPt>
            <c:idx val="2"/>
            <c:bubble3D val="0"/>
            <c:spPr>
              <a:solidFill>
                <a:srgbClr val="00C49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Teacher to Parent</c:v>
                </c:pt>
                <c:pt idx="1">
                  <c:v>Automated Reminder</c:v>
                </c:pt>
                <c:pt idx="2">
                  <c:v>Parent to Teacher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8149</c:v>
                </c:pt>
                <c:pt idx="1">
                  <c:v>8106</c:v>
                </c:pt>
                <c:pt idx="2">
                  <c:v>8057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Silent Students % by Grade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Silent %</c:v>
                </c:pt>
              </c:strCache>
            </c:strRef>
          </c:tx>
          <c:spPr>
            <a:solidFill>
              <a:srgbClr val="E05C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Grade 1</c:v>
                  </c:pt>
                  <c:pt idx="1">
                    <c:v>Grade 5</c:v>
                  </c:pt>
                  <c:pt idx="2">
                    <c:v>Grade 4</c:v>
                  </c:pt>
                  <c:pt idx="3">
                    <c:v>Grade 3</c:v>
                  </c:pt>
                  <c:pt idx="4">
                    <c:v>Grade 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14.73</c:v>
                </c:pt>
                <c:pt idx="1">
                  <c:v>13.59</c:v>
                </c:pt>
                <c:pt idx="2">
                  <c:v>13.57</c:v>
                </c:pt>
                <c:pt idx="3">
                  <c:v>13</c:v>
                </c:pt>
                <c:pt idx="4">
                  <c:v>12.75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b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A3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A3A"/>
                </a:solidFill>
                <a:latin typeface="Arial"/>
              </a:rPr>
              <a:t>At-Risk Count by Grade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At-Risk</c:v>
                </c:pt>
              </c:strCache>
            </c:strRef>
          </c:tx>
          <c:spPr>
            <a:solidFill>
              <a:srgbClr val="E05C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Grade 1</c:v>
                  </c:pt>
                  <c:pt idx="1">
                    <c:v>Grade 2</c:v>
                  </c:pt>
                  <c:pt idx="2">
                    <c:v>Grade 3</c:v>
                  </c:pt>
                  <c:pt idx="3">
                    <c:v>Grade 4</c:v>
                  </c:pt>
                  <c:pt idx="4">
                    <c:v>Grade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288</c:v>
                </c:pt>
                <c:pt idx="2">
                  <c:v>311</c:v>
                </c:pt>
                <c:pt idx="3">
                  <c:v>325</c:v>
                </c:pt>
                <c:pt idx="4">
                  <c:v>289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090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54864" cy="514350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822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NTI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82880" y="18745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&amp;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749040" y="1280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Health Analysis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749040" y="19659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end-to-end data analysis pipeline examining 12,156 students across five grade levels over a complete academic year.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3200400"/>
            <a:ext cx="5029200" cy="914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3337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57800" y="3337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 Hatem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36850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57800" y="368503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x NTI — Data Analysis Track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40325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40325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DONIA — Evaluation Committee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4379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57800" y="437997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2024 – March 2025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749040" y="4663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2017  →  Python 3.12  →  Power BI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data became actionable insight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22960"/>
            <a:ext cx="1920240" cy="73152"/>
          </a:xfrm>
          <a:prstGeom prst="rect">
            <a:avLst/>
          </a:prstGeom>
          <a:solidFill>
            <a:srgbClr val="8090A8"/>
          </a:solidFill>
          <a:ln w="12700">
            <a:solidFill>
              <a:srgbClr val="8090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090A8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19933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CSV files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42316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· attendance · homework · performance · communication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0" y="20116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487168" y="822960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87168" y="822960"/>
            <a:ext cx="1920240" cy="73152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87168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6CB8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578608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578608" y="19933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Phase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96896" y="242316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6-chapter narrative · Quality flags · Business questions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07408" y="20116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08576" y="822960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08576" y="822960"/>
            <a:ext cx="1920240" cy="73152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700016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00016" y="19933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Phase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18304" y="242316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· Feature engineering · Export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28816" y="20116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729984" y="822960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9984" y="822960"/>
            <a:ext cx="1920240" cy="73152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9984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49A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04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6821424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21424" y="19933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Phase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39712" y="242316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6-page interactive dashboard · ENG. DONIA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 Processed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4320" y="4663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12,156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74320" y="4873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11680" y="4663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364,680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011680" y="4873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4663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60,780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749040" y="4873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0" y="4663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36,468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0" y="4873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23760" y="4663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24,312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223760" y="4873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health at a glance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1600200" cy="54864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86968"/>
            <a:ext cx="160020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12.156K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542593"/>
            <a:ext cx="141732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Enrollment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7772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11680" y="777240"/>
            <a:ext cx="1600200" cy="54864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0" y="886968"/>
            <a:ext cx="160020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74.96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03120" y="1542593"/>
            <a:ext cx="141732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Academic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7772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49040" y="777240"/>
            <a:ext cx="160020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886968"/>
            <a:ext cx="160020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~2K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840480" y="1542593"/>
            <a:ext cx="141732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Students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0" y="7772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777240"/>
            <a:ext cx="16002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886968"/>
            <a:ext cx="160020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577840" y="1542593"/>
            <a:ext cx="141732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23760" y="7772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23760" y="777240"/>
            <a:ext cx="1600200" cy="5486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3760" y="886968"/>
            <a:ext cx="160020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49.99%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200" y="1542593"/>
            <a:ext cx="141732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 Completion Rate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274320" y="21488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Chart 1" descr=""/>
          <p:cNvGraphicFramePr/>
          <p:nvPr/>
        </p:nvGraphicFramePr>
        <p:xfrm>
          <a:off x="4572000" y="2148840"/>
          <a:ext cx="42976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showing up, and when?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7772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72000" y="777240"/>
          <a:ext cx="42976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3474720"/>
            <a:ext cx="8595360" cy="1325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502920" y="3547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3858768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25.12%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all records are marked Present — students are fully present in just 1 in 4 sessions. Late arrivals (24.96%) are as frequent as absences (~25%).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is general, not subject-specific.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&amp; Engagement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students doing the work?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7772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72000" y="777240"/>
          <a:ext cx="42976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3474720"/>
            <a:ext cx="8595360" cy="1325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502920" y="3547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3858768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 assignments is never completed.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Science has the lowest completion rate. Guardian-signed assignments show marginally higher completion — suggesting parental involvement has some effect but is not the primary driver of engagement.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Performance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students scoring?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1965960" cy="54864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74.96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Avg Score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777240"/>
            <a:ext cx="1965960" cy="5486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110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46888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Range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777240"/>
            <a:ext cx="1965960" cy="54864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12.87%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7200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Achievers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0" y="777240"/>
            <a:ext cx="196596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12.41%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67512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Rate</a:t>
            </a:r>
            <a:endParaRPr lang="en-US" sz="11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274320" y="2011680"/>
          <a:ext cx="4114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Chart 1" descr=""/>
          <p:cNvGraphicFramePr/>
          <p:nvPr/>
        </p:nvGraphicFramePr>
        <p:xfrm>
          <a:off x="4572000" y="2011680"/>
          <a:ext cx="42976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Communication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school connected to parents?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2651760" cy="54864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8696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24K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45755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Messages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08960" y="77724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777240"/>
            <a:ext cx="265176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88696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1,644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00400" y="145755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Students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77724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0" y="777240"/>
            <a:ext cx="265176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88696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35040" y="145755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Gap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274320" y="2011680"/>
          <a:ext cx="4114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Chart 1" descr=""/>
          <p:cNvGraphicFramePr/>
          <p:nvPr/>
        </p:nvGraphicFramePr>
        <p:xfrm>
          <a:off x="4572000" y="2011680"/>
          <a:ext cx="42976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Intervention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action before the year ends?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196596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~2K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Students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777240"/>
            <a:ext cx="196596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46888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School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777240"/>
            <a:ext cx="1965960" cy="54864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54.06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7200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Avg Score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77724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0" y="777240"/>
            <a:ext cx="196596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88696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25.27%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675120" y="145755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Attendance Rate</a:t>
            </a:r>
            <a:endParaRPr lang="en-US" sz="11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274320" y="2011680"/>
          <a:ext cx="41148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4572000" y="2011680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0" y="2011680"/>
            <a:ext cx="4297680" cy="5486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63440" y="20848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Flag Criteria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3440" y="2487168"/>
            <a:ext cx="2468880" cy="32918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248716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178040" y="2487168"/>
            <a:ext cx="1600200" cy="32918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78040" y="248716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663440" y="2889504"/>
            <a:ext cx="2468880" cy="32918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36592" y="28895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Exam Score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178040" y="2889504"/>
            <a:ext cx="1600200" cy="32918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178040" y="288950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663440" y="3291840"/>
            <a:ext cx="2468880" cy="32918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36592" y="329184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Assignments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178040" y="3291840"/>
            <a:ext cx="1600200" cy="329184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178040" y="32918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663440" y="37124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conditions must be true simultaneously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74320" y="3977640"/>
            <a:ext cx="859536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457200" y="40690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at-risk students have parent communication records.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Communication is happening but not translating into improvement. The intervention strategy needs to change — not just its frequency.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Issues &amp; Fixes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and how we resolved 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73152" cy="694944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859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Date_of_Birth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 formats (ISO &amp; US)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54680" y="859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5468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8595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109728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pd.to_datetime(format='mixed')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609344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1609344"/>
            <a:ext cx="73152" cy="69494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Attendance_Status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19568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Casing inconsistencies + 'absnt' typo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54680" y="1645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15468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1880" y="16459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11880" y="1883664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str.upper() + map + ABSNT→ABSENT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395728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395728"/>
            <a:ext cx="73152" cy="694944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24323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homework.Status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27432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 + text variants mixed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154680" y="24323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54680" y="2596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611880" y="2432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11880" y="2670048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Set-based mapping → Done | Not Done | Pending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182112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3182112"/>
            <a:ext cx="73152" cy="694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218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Guardian_Signature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35295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as BIT — blanks not NULL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154680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546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3611880" y="32186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11880" y="3456432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in SQL + fillna(False) in Python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3968496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74320" y="3968496"/>
            <a:ext cx="73152" cy="69494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Homework_Completion_%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 invalid values + mixed % suffix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154680" y="4005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154680" y="4169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3611880" y="40050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11880" y="4242816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%, cast float, -5 → NaN, subject median fill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 telling us to 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4206240" cy="64008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14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CB8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9144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Intervention List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33502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At-Risk page as a live working tool. Each row is a student requiring a direct conversation before year-end.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21284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212848"/>
            <a:ext cx="4206240" cy="64008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C2A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6112" y="23042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Grade 1 Communication Gap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" y="272491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14.73% of Grade 1 students have zero contact. Youngest students need the most parental engagement — build a structured onboarding protocol.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60273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602736"/>
            <a:ext cx="420624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6112" y="36941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Rethink Communication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" y="411480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at-risk students have active contact but declining performance. Volume is not the problem — quality and follow-through are.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822960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822960"/>
            <a:ext cx="4206240" cy="64008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8888" y="914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330952" y="9144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at Entry Point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18888" y="133502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typos, emoji status fields, and mixed date formats indicate no input validation. Standardize at source before the next year.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212848"/>
            <a:ext cx="4206240" cy="64008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18888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49A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330952" y="23042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Trend Detection Model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18888" y="272491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individual-level attendance trend monitoring. Flag students before they cross the at-risk threshold, not after.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60273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3602736"/>
            <a:ext cx="42062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330952" y="36941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Subject-Level Performance Model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18888" y="411480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whether a student's low score is isolated to one subject or signals a broader academic decline across all subjects.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486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 Academic Success &amp; Intervention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2700">
            <a:solidFill>
              <a:srgbClr val="00AE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nourhatem.netlify.app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517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51760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linkedin.com/in/nour-hatem-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kaggle.com/nourelhashash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0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github.com/nour-hatem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1645920" cy="118872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31012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12,156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0" y="3246120"/>
            <a:ext cx="1645920" cy="118872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0" y="331012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~2K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74320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246120"/>
            <a:ext cx="1645920" cy="118872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31012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75488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3246120"/>
            <a:ext cx="1645920" cy="118872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31012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EE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76656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Phases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x NTI — Data Analysis Track  |  ENG. DONIA — Evaluation Committee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NTI Academic Success &amp; Intervention</dc:title>
  <dc:subject>PptxGenJS Presentation</dc:subject>
  <dc:creator>Nour Hatem</dc:creator>
  <cp:lastModifiedBy>Nour Hatem</cp:lastModifiedBy>
  <cp:revision>1</cp:revision>
  <dcterms:created xsi:type="dcterms:W3CDTF">2026-05-06T06:01:11Z</dcterms:created>
  <dcterms:modified xsi:type="dcterms:W3CDTF">2026-05-06T06:01:11Z</dcterms:modified>
</cp:coreProperties>
</file>