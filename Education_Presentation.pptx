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10.xml" ContentType="application/vnd.openxmlformats-officedocument.drawingml.chart+xml"/>
  <Override PartName="/ppt/charts/chart6.xml" ContentType="application/vnd.openxmlformats-officedocument.drawingml.chart+xml"/>
  <Override PartName="/ppt/charts/chart11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_rels/notesSlide11.xml.rels" ContentType="application/vnd.openxmlformats-package.relationships+xml"/>
  <Override PartName="/ppt/notesSlides/_rels/notesSlide4.xml.rels" ContentType="application/vnd.openxmlformats-package.relationships+xml"/>
  <Override PartName="/ppt/notesSlides/_rels/notesSlide9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3.xml.rels" ContentType="application/vnd.openxmlformats-package.relationships+xml"/>
  <Override PartName="/ppt/notesSlides/_rels/notesSlide8.xml.rels" ContentType="application/vnd.openxmlformats-package.relationships+xml"/>
  <Override PartName="/ppt/notesSlides/_rels/notesSlide7.xml.rels" ContentType="application/vnd.openxmlformats-package.relationships+xml"/>
  <Override PartName="/ppt/notesSlides/_rels/notesSlide6.xml.rels" ContentType="application/vnd.openxmlformats-package.relationships+xml"/>
  <Override PartName="/ppt/notesSlides/_rels/notesSlide5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.xml.rels" ContentType="application/vnd.openxmlformats-package.relationships+xml"/>
  <Override PartName="/ppt/notesSlides/notesSlide9.xml" ContentType="application/vnd.openxmlformats-officedocument.presentationml.notesSlide+xml"/>
  <Override PartName="/ppt/notesSlides/notesSlide11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presProps" Target="presProps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title>
      <c:tx>
        <c:rich>
          <a:bodyPr rot="0"/>
          <a:lstStyle/>
          <a:p>
            <a:pPr>
              <a:defRPr b="0" sz="1200" spc="-1" strike="noStrike">
                <a:solidFill>
                  <a:srgbClr val="1a2a3a"/>
                </a:solidFill>
                <a:latin typeface="Arial"/>
              </a:defRPr>
            </a:pPr>
            <a:r>
              <a:rPr b="0" sz="1200" spc="-1" strike="noStrike">
                <a:solidFill>
                  <a:srgbClr val="1a2a3a"/>
                </a:solidFill>
                <a:latin typeface="Arial"/>
              </a:rPr>
              <a:t>Score Band Distribution</a:t>
            </a:r>
          </a:p>
        </c:rich>
      </c:tx>
      <c:overlay val="0"/>
      <c:spPr>
        <a:noFill/>
        <a:ln w="0">
          <a:noFill/>
        </a:ln>
      </c:spPr>
    </c:title>
    <c:autoTitleDeleted val="0"/>
    <c:plotArea>
      <c:doughnutChart>
        <c:varyColors val="1"/>
        <c:ser>
          <c:idx val="0"/>
          <c:order val="0"/>
          <c:tx>
            <c:strRef>
              <c:f>label 0</c:f>
              <c:strCache>
                <c:ptCount val="1"/>
                <c:pt idx="0">
                  <c:v>Score Band</c:v>
                </c:pt>
              </c:strCache>
            </c:strRef>
          </c:tx>
          <c:spPr>
            <a:solidFill>
              <a:srgbClr val="4472c4"/>
            </a:solidFill>
            <a:ln w="9360">
              <a:solidFill>
                <a:srgbClr val="f9f9f9"/>
              </a:solidFill>
              <a:round/>
            </a:ln>
          </c:spPr>
          <c:explosion val="0"/>
          <c:dPt>
            <c:idx val="0"/>
            <c:spPr>
              <a:solidFill>
                <a:srgbClr val="e05c2a"/>
              </a:solidFill>
              <a:ln w="0">
                <a:noFill/>
              </a:ln>
            </c:spPr>
          </c:dPt>
          <c:dPt>
            <c:idx val="1"/>
            <c:spPr>
              <a:solidFill>
                <a:srgbClr val="f59e0b"/>
              </a:solidFill>
              <a:ln w="0">
                <a:noFill/>
              </a:ln>
            </c:spPr>
          </c:dPt>
          <c:dPt>
            <c:idx val="2"/>
            <c:spPr>
              <a:solidFill>
                <a:srgbClr val="00c49a"/>
              </a:solidFill>
              <a:ln w="0">
                <a:noFill/>
              </a:ln>
            </c:spPr>
          </c:dPt>
          <c:dPt>
            <c:idx val="3"/>
            <c:spPr>
              <a:solidFill>
                <a:srgbClr val="2e6cb8"/>
              </a:solidFill>
              <a:ln w="0">
                <a:noFill/>
              </a:ln>
            </c:spPr>
          </c:dPt>
          <c:dLbls>
            <c:numFmt formatCode="0%" sourceLinked="0"/>
            <c:dLbl>
              <c:idx val="0"/>
              <c:numFmt formatCode="0%" sourceLinked="0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eparator>
</c:separator>
            </c:dLbl>
            <c:dLbl>
              <c:idx val="1"/>
              <c:numFmt formatCode="0%" sourceLinked="0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eparator>
</c:separator>
            </c:dLbl>
            <c:dLbl>
              <c:idx val="2"/>
              <c:numFmt formatCode="0%" sourceLinked="0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eparator>
</c:separator>
            </c:dLbl>
            <c:dLbl>
              <c:idx val="3"/>
              <c:numFmt formatCode="0%" sourceLinked="0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eparator>
</c:separator>
            </c:dLbl>
            <c:txPr>
              <a:bodyPr wrap="square"/>
              <a:lstStyle/>
              <a:p>
                <a:pPr>
                  <a:defRPr b="0" sz="1800" spc="-1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eparator>
</c:separator>
            <c:showLeaderLines val="0"/>
          </c:dLbls>
          <c:cat>
            <c:strRef>
              <c:f>categories</c:f>
              <c:strCache>
                <c:ptCount val="4"/>
                <c:pt idx="0">
                  <c:v>Failing</c:v>
                </c:pt>
                <c:pt idx="1">
                  <c:v>Average</c:v>
                </c:pt>
                <c:pt idx="2">
                  <c:v>Good</c:v>
                </c:pt>
                <c:pt idx="3">
                  <c:v>Excellent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4"/>
                <c:pt idx="0">
                  <c:v>1510</c:v>
                </c:pt>
                <c:pt idx="1">
                  <c:v>4190</c:v>
                </c:pt>
                <c:pt idx="2">
                  <c:v>4320</c:v>
                </c:pt>
                <c:pt idx="3">
                  <c:v>1570</c:v>
                </c:pt>
              </c:numCache>
            </c:numRef>
          </c:val>
        </c:ser>
        <c:firstSliceAng val="0"/>
        <c:holeSize val="50"/>
      </c:doughnutChart>
      <c:spPr>
        <a:noFill/>
        <a:ln w="0">
          <a:noFill/>
        </a:ln>
      </c:spPr>
    </c:plotArea>
    <c:legend>
      <c:legendPos val="b"/>
      <c:overlay val="0"/>
      <c:spPr>
        <a:noFill/>
        <a:ln w="0">
          <a:noFill/>
        </a:ln>
      </c:spPr>
      <c:txPr>
        <a:bodyPr/>
        <a:lstStyle/>
        <a:p>
          <a:pPr>
            <a:defRPr b="0" sz="1000" spc="-1" strike="noStrike">
              <a:solidFill>
                <a:srgbClr val="000000"/>
              </a:solidFill>
              <a:latin typeface="Calibri"/>
            </a:defRPr>
          </a:pPr>
        </a:p>
      </c:txPr>
    </c:legend>
    <c:plotVisOnly val="1"/>
    <c:dispBlanksAs val="span"/>
  </c:chart>
  <c:spPr>
    <a:solidFill>
      <a:srgbClr val="f4f6fa"/>
    </a:solidFill>
    <a:ln w="0">
      <a:noFill/>
    </a:ln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title>
      <c:tx>
        <c:rich>
          <a:bodyPr rot="0"/>
          <a:lstStyle/>
          <a:p>
            <a:pPr>
              <a:defRPr b="0" sz="1200" spc="-1" strike="noStrike">
                <a:solidFill>
                  <a:srgbClr val="1a2a3a"/>
                </a:solidFill>
                <a:latin typeface="Arial"/>
              </a:defRPr>
            </a:pPr>
            <a:r>
              <a:rPr b="0" sz="1200" spc="-1" strike="noStrike">
                <a:solidFill>
                  <a:srgbClr val="1a2a3a"/>
                </a:solidFill>
                <a:latin typeface="Arial"/>
              </a:rPr>
              <a:t>At-Risk Count by Grade</a:t>
            </a:r>
          </a:p>
        </c:rich>
      </c:tx>
      <c:overlay val="0"/>
      <c:spPr>
        <a:noFill/>
        <a:ln w="0">
          <a:noFill/>
        </a:ln>
      </c:spPr>
    </c:title>
    <c:autoTitleDeleted val="0"/>
    <c:plotArea>
      <c:barChart>
        <c:barDir val="bar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At-Risk</c:v>
                </c:pt>
              </c:strCache>
            </c:strRef>
          </c:tx>
          <c:spPr>
            <a:solidFill>
              <a:srgbClr val="2e6cb8"/>
            </a:solidFill>
            <a:ln w="0">
              <a:noFill/>
            </a:ln>
          </c:spPr>
          <c:invertIfNegative val="0"/>
          <c:dLbls>
            <c:numFmt formatCode="#,##0" sourceLinked="0"/>
            <c:txPr>
              <a:bodyPr wrap="square"/>
              <a:lstStyle/>
              <a:p>
                <a:pPr>
                  <a:defRPr b="0" sz="1000" spc="-1" strike="noStrike">
                    <a:solidFill>
                      <a:srgbClr val="1a2a3a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5"/>
                <c:pt idx="0">
                  <c:v>Grade 1</c:v>
                </c:pt>
                <c:pt idx="1">
                  <c:v>Grade 2</c:v>
                </c:pt>
                <c:pt idx="2">
                  <c:v>Grade 3</c:v>
                </c:pt>
                <c:pt idx="3">
                  <c:v>Grade 4</c:v>
                </c:pt>
                <c:pt idx="4">
                  <c:v>Grade 5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5"/>
                <c:pt idx="0">
                  <c:v>302</c:v>
                </c:pt>
                <c:pt idx="1">
                  <c:v>288</c:v>
                </c:pt>
                <c:pt idx="2">
                  <c:v>311</c:v>
                </c:pt>
                <c:pt idx="3">
                  <c:v>325</c:v>
                </c:pt>
                <c:pt idx="4">
                  <c:v>289</c:v>
                </c:pt>
              </c:numCache>
            </c:numRef>
          </c:val>
        </c:ser>
        <c:gapWidth val="150"/>
        <c:overlap val="0"/>
        <c:axId val="71457427"/>
        <c:axId val="40556490"/>
      </c:barChart>
      <c:catAx>
        <c:axId val="71457427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b="0" sz="1200" spc="-1" strike="noStrike">
                <a:solidFill>
                  <a:srgbClr val="8090a8"/>
                </a:solidFill>
                <a:latin typeface="Arial"/>
              </a:defRPr>
            </a:pPr>
          </a:p>
        </c:txPr>
        <c:crossAx val="40556490"/>
        <c:crosses val="autoZero"/>
        <c:auto val="1"/>
        <c:lblAlgn val="ctr"/>
        <c:lblOffset val="100"/>
        <c:noMultiLvlLbl val="0"/>
      </c:catAx>
      <c:valAx>
        <c:axId val="40556490"/>
        <c:scaling>
          <c:orientation val="minMax"/>
        </c:scaling>
        <c:delete val="0"/>
        <c:axPos val="l"/>
        <c:majorGridlines>
          <c:spPr>
            <a:ln w="6480">
              <a:solidFill>
                <a:srgbClr val="dde6f0"/>
              </a:solidFill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b="0" sz="1200" spc="-1" strike="noStrike">
                <a:solidFill>
                  <a:srgbClr val="8090a8"/>
                </a:solidFill>
                <a:latin typeface="Arial"/>
              </a:defRPr>
            </a:pPr>
          </a:p>
        </c:txPr>
        <c:crossAx val="71457427"/>
        <c:crosses val="autoZero"/>
        <c:crossBetween val="between"/>
      </c:valAx>
      <c:spPr>
        <a:noFill/>
        <a:ln w="0">
          <a:noFill/>
        </a:ln>
      </c:spPr>
    </c:plotArea>
    <c:plotVisOnly val="1"/>
    <c:dispBlanksAs val="span"/>
  </c:chart>
  <c:spPr>
    <a:solidFill>
      <a:srgbClr val="f4f6fa"/>
    </a:solidFill>
    <a:ln w="0">
      <a:noFill/>
    </a:ln>
  </c:spPr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title>
      <c:tx>
        <c:rich>
          <a:bodyPr rot="0"/>
          <a:lstStyle/>
          <a:p>
            <a:pPr>
              <a:defRPr b="0" sz="1200" spc="-1" strike="noStrike">
                <a:solidFill>
                  <a:srgbClr val="1a2a3a"/>
                </a:solidFill>
                <a:latin typeface="Arial"/>
              </a:defRPr>
            </a:pPr>
            <a:r>
              <a:rPr b="0" sz="1200" spc="-1" strike="noStrike">
                <a:solidFill>
                  <a:srgbClr val="1a2a3a"/>
                </a:solidFill>
                <a:latin typeface="Arial"/>
              </a:rPr>
              <a:t>Attendance Status Distribution</a:t>
            </a:r>
          </a:p>
        </c:rich>
      </c:tx>
      <c:overlay val="0"/>
      <c:spPr>
        <a:noFill/>
        <a:ln w="0">
          <a:noFill/>
        </a:ln>
      </c:spPr>
    </c:title>
    <c:autoTitleDeleted val="0"/>
    <c:plotArea>
      <c:pieChart>
        <c:varyColors val="1"/>
        <c:ser>
          <c:idx val="0"/>
          <c:order val="0"/>
          <c:tx>
            <c:strRef>
              <c:f>label 0</c:f>
              <c:strCache>
                <c:ptCount val="1"/>
                <c:pt idx="0">
                  <c:v>Status</c:v>
                </c:pt>
              </c:strCache>
            </c:strRef>
          </c:tx>
          <c:spPr>
            <a:solidFill>
              <a:srgbClr val="4472c4"/>
            </a:solidFill>
            <a:ln w="9360">
              <a:solidFill>
                <a:srgbClr val="f9f9f9"/>
              </a:solidFill>
              <a:round/>
            </a:ln>
          </c:spPr>
          <c:explosion val="0"/>
          <c:dPt>
            <c:idx val="0"/>
            <c:spPr>
              <a:solidFill>
                <a:srgbClr val="2e6cb8"/>
              </a:solidFill>
              <a:ln w="0">
                <a:noFill/>
              </a:ln>
            </c:spPr>
          </c:dPt>
          <c:dPt>
            <c:idx val="1"/>
            <c:spPr>
              <a:solidFill>
                <a:srgbClr val="f59e0b"/>
              </a:solidFill>
              <a:ln w="0">
                <a:noFill/>
              </a:ln>
            </c:spPr>
          </c:dPt>
          <c:dPt>
            <c:idx val="2"/>
            <c:spPr>
              <a:solidFill>
                <a:srgbClr val="e05c2a"/>
              </a:solidFill>
              <a:ln w="0">
                <a:noFill/>
              </a:ln>
            </c:spPr>
          </c:dPt>
          <c:dPt>
            <c:idx val="3"/>
            <c:spPr>
              <a:solidFill>
                <a:srgbClr val="8b5cf6"/>
              </a:solidFill>
              <a:ln w="0">
                <a:noFill/>
              </a:ln>
            </c:spPr>
          </c:dPt>
          <c:dPt>
            <c:idx val="4"/>
            <c:spPr>
              <a:solidFill>
                <a:srgbClr val="00aeef"/>
              </a:solidFill>
              <a:ln w="0">
                <a:noFill/>
              </a:ln>
            </c:spPr>
          </c:dPt>
          <c:dLbls>
            <c:numFmt formatCode="0%" sourceLinked="0"/>
            <c:dLbl>
              <c:idx val="0"/>
              <c:numFmt formatCode="0%" sourceLinked="0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1"/>
              <c:separator>
</c:separator>
            </c:dLbl>
            <c:dLbl>
              <c:idx val="1"/>
              <c:numFmt formatCode="0%" sourceLinked="0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1"/>
              <c:separator>
</c:separator>
            </c:dLbl>
            <c:dLbl>
              <c:idx val="2"/>
              <c:numFmt formatCode="0%" sourceLinked="0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1"/>
              <c:separator>
</c:separator>
            </c:dLbl>
            <c:dLbl>
              <c:idx val="3"/>
              <c:numFmt formatCode="0%" sourceLinked="0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1"/>
              <c:separator>
</c:separator>
            </c:dLbl>
            <c:dLbl>
              <c:idx val="4"/>
              <c:numFmt formatCode="0%" sourceLinked="0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1"/>
              <c:separator>
</c:separator>
            </c:dLbl>
            <c:txPr>
              <a:bodyPr wrap="square"/>
              <a:lstStyle/>
              <a:p>
                <a:pPr>
                  <a:defRPr b="0" sz="1800" spc="-1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eparator>
</c:separator>
            <c:showLeaderLines val="0"/>
          </c:dLbls>
          <c:cat>
            <c:strRef>
              <c:f>categories</c:f>
              <c:strCache>
                <c:ptCount val="5"/>
                <c:pt idx="0">
                  <c:v>Present</c:v>
                </c:pt>
                <c:pt idx="1">
                  <c:v>Late</c:v>
                </c:pt>
                <c:pt idx="2">
                  <c:v>Absent</c:v>
                </c:pt>
                <c:pt idx="3">
                  <c:v>Left Early</c:v>
                </c:pt>
                <c:pt idx="4">
                  <c:v>Excused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5"/>
                <c:pt idx="0">
                  <c:v>91614</c:v>
                </c:pt>
                <c:pt idx="1">
                  <c:v>91017</c:v>
                </c:pt>
                <c:pt idx="2">
                  <c:v>91229</c:v>
                </c:pt>
                <c:pt idx="3">
                  <c:v>45435</c:v>
                </c:pt>
                <c:pt idx="4">
                  <c:v>45385</c:v>
                </c:pt>
              </c:numCache>
            </c:numRef>
          </c:val>
        </c:ser>
        <c:firstSliceAng val="0"/>
      </c:pieChart>
      <c:spPr>
        <a:noFill/>
        <a:ln w="0">
          <a:noFill/>
        </a:ln>
      </c:spPr>
    </c:plotArea>
    <c:legend>
      <c:legendPos val="b"/>
      <c:overlay val="0"/>
      <c:spPr>
        <a:noFill/>
        <a:ln w="0">
          <a:noFill/>
        </a:ln>
      </c:spPr>
      <c:txPr>
        <a:bodyPr/>
        <a:lstStyle/>
        <a:p>
          <a:pPr>
            <a:defRPr b="0" sz="900" spc="-1" strike="noStrike">
              <a:solidFill>
                <a:srgbClr val="000000"/>
              </a:solidFill>
              <a:latin typeface="Calibri"/>
            </a:defRPr>
          </a:pPr>
        </a:p>
      </c:txPr>
    </c:legend>
    <c:plotVisOnly val="1"/>
    <c:dispBlanksAs val="span"/>
  </c:chart>
  <c:spPr>
    <a:solidFill>
      <a:srgbClr val="f4f6fa"/>
    </a:solidFill>
    <a:ln w="0">
      <a:noFill/>
    </a:ln>
  </c:spPr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title>
      <c:tx>
        <c:rich>
          <a:bodyPr rot="0"/>
          <a:lstStyle/>
          <a:p>
            <a:pPr>
              <a:defRPr b="0" sz="1200" spc="-1" strike="noStrike">
                <a:solidFill>
                  <a:srgbClr val="1a2a3a"/>
                </a:solidFill>
                <a:latin typeface="Arial"/>
              </a:defRPr>
            </a:pPr>
            <a:r>
              <a:rPr b="0" sz="1200" spc="-1" strike="noStrike">
                <a:solidFill>
                  <a:srgbClr val="1a2a3a"/>
                </a:solidFill>
                <a:latin typeface="Arial"/>
              </a:rPr>
              <a:t>Absence &amp; Tardiness by Subject</a:t>
            </a:r>
          </a:p>
        </c:rich>
      </c:tx>
      <c:overlay val="0"/>
      <c:spPr>
        <a:noFill/>
        <a:ln w="0">
          <a:noFill/>
        </a:ln>
      </c:spPr>
    </c:title>
    <c:autoTitleDeleted val="0"/>
    <c:plotArea>
      <c:barChart>
        <c:barDir val="bar"/>
        <c:grouping val="stack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Absent</c:v>
                </c:pt>
              </c:strCache>
            </c:strRef>
          </c:tx>
          <c:spPr>
            <a:solidFill>
              <a:srgbClr val="e05c2a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b="0" sz="1200" spc="-1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6"/>
                <c:pt idx="0">
                  <c:v>Math</c:v>
                </c:pt>
                <c:pt idx="1">
                  <c:v>Arabic</c:v>
                </c:pt>
                <c:pt idx="2">
                  <c:v>Science</c:v>
                </c:pt>
                <c:pt idx="3">
                  <c:v>History</c:v>
                </c:pt>
                <c:pt idx="4">
                  <c:v>English</c:v>
                </c:pt>
                <c:pt idx="5">
                  <c:v>Geography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6"/>
                <c:pt idx="0">
                  <c:v>15364</c:v>
                </c:pt>
                <c:pt idx="1">
                  <c:v>15313</c:v>
                </c:pt>
                <c:pt idx="2">
                  <c:v>15167</c:v>
                </c:pt>
                <c:pt idx="3">
                  <c:v>15080</c:v>
                </c:pt>
                <c:pt idx="4">
                  <c:v>15105</c:v>
                </c:pt>
                <c:pt idx="5">
                  <c:v>15200</c:v>
                </c:pt>
              </c:numCache>
            </c:numRef>
          </c:val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Late</c:v>
                </c:pt>
              </c:strCache>
            </c:strRef>
          </c:tx>
          <c:spPr>
            <a:solidFill>
              <a:srgbClr val="f59e0b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b="0" sz="1200" spc="-1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6"/>
                <c:pt idx="0">
                  <c:v>Math</c:v>
                </c:pt>
                <c:pt idx="1">
                  <c:v>Arabic</c:v>
                </c:pt>
                <c:pt idx="2">
                  <c:v>Science</c:v>
                </c:pt>
                <c:pt idx="3">
                  <c:v>History</c:v>
                </c:pt>
                <c:pt idx="4">
                  <c:v>English</c:v>
                </c:pt>
                <c:pt idx="5">
                  <c:v>Geography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6"/>
                <c:pt idx="0">
                  <c:v>15322</c:v>
                </c:pt>
                <c:pt idx="1">
                  <c:v>15203</c:v>
                </c:pt>
                <c:pt idx="2">
                  <c:v>15282</c:v>
                </c:pt>
                <c:pt idx="3">
                  <c:v>15024</c:v>
                </c:pt>
                <c:pt idx="4">
                  <c:v>15171</c:v>
                </c:pt>
                <c:pt idx="5">
                  <c:v>15015</c:v>
                </c:pt>
              </c:numCache>
            </c:numRef>
          </c:val>
        </c:ser>
        <c:gapWidth val="50"/>
        <c:overlap val="100"/>
        <c:axId val="58123835"/>
        <c:axId val="34905685"/>
      </c:barChart>
      <c:catAx>
        <c:axId val="58123835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b="0" sz="1200" spc="-1" strike="noStrike">
                <a:solidFill>
                  <a:srgbClr val="8090a8"/>
                </a:solidFill>
                <a:latin typeface="Arial"/>
              </a:defRPr>
            </a:pPr>
          </a:p>
        </c:txPr>
        <c:crossAx val="34905685"/>
        <c:crosses val="autoZero"/>
        <c:auto val="1"/>
        <c:lblAlgn val="ctr"/>
        <c:lblOffset val="100"/>
        <c:noMultiLvlLbl val="0"/>
      </c:catAx>
      <c:valAx>
        <c:axId val="34905685"/>
        <c:scaling>
          <c:orientation val="minMax"/>
        </c:scaling>
        <c:delete val="0"/>
        <c:axPos val="l"/>
        <c:majorGridlines>
          <c:spPr>
            <a:ln w="6480">
              <a:solidFill>
                <a:srgbClr val="dde6f0"/>
              </a:solidFill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b="0" sz="1200" spc="-1" strike="noStrike">
                <a:solidFill>
                  <a:srgbClr val="8090a8"/>
                </a:solidFill>
                <a:latin typeface="Arial"/>
              </a:defRPr>
            </a:pPr>
          </a:p>
        </c:txPr>
        <c:crossAx val="58123835"/>
        <c:crosses val="autoZero"/>
        <c:crossBetween val="between"/>
      </c:valAx>
      <c:spPr>
        <a:noFill/>
        <a:ln w="0">
          <a:noFill/>
        </a:ln>
      </c:spPr>
    </c:plotArea>
    <c:legend>
      <c:legendPos val="b"/>
      <c:overlay val="0"/>
      <c:spPr>
        <a:noFill/>
        <a:ln w="0">
          <a:noFill/>
        </a:ln>
      </c:spPr>
      <c:txPr>
        <a:bodyPr/>
        <a:lstStyle/>
        <a:p>
          <a:pPr>
            <a:defRPr b="0" sz="1000" spc="-1" strike="noStrike">
              <a:solidFill>
                <a:srgbClr val="000000"/>
              </a:solidFill>
              <a:latin typeface="Calibri"/>
            </a:defRPr>
          </a:pPr>
        </a:p>
      </c:txPr>
    </c:legend>
    <c:plotVisOnly val="1"/>
    <c:dispBlanksAs val="span"/>
  </c:chart>
  <c:spPr>
    <a:solidFill>
      <a:srgbClr val="f4f6fa"/>
    </a:solidFill>
    <a:ln w="0">
      <a:noFill/>
    </a:ln>
  </c:spPr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title>
      <c:tx>
        <c:rich>
          <a:bodyPr rot="0"/>
          <a:lstStyle/>
          <a:p>
            <a:pPr>
              <a:defRPr b="0" sz="1200" spc="-1" strike="noStrike">
                <a:solidFill>
                  <a:srgbClr val="1a2a3a"/>
                </a:solidFill>
                <a:latin typeface="Arial"/>
              </a:defRPr>
            </a:pPr>
            <a:r>
              <a:rPr b="0" sz="1200" spc="-1" strike="noStrike">
                <a:solidFill>
                  <a:srgbClr val="1a2a3a"/>
                </a:solidFill>
                <a:latin typeface="Arial"/>
              </a:rPr>
              <a:t>Homework Completion Status</a:t>
            </a:r>
          </a:p>
        </c:rich>
      </c:tx>
      <c:overlay val="0"/>
      <c:spPr>
        <a:noFill/>
        <a:ln w="0">
          <a:noFill/>
        </a:ln>
      </c:spPr>
    </c:title>
    <c:autoTitleDeleted val="0"/>
    <c:plotArea>
      <c:doughnutChart>
        <c:varyColors val="1"/>
        <c:ser>
          <c:idx val="0"/>
          <c:order val="0"/>
          <c:tx>
            <c:strRef>
              <c:f>label 0</c:f>
              <c:strCache>
                <c:ptCount val="1"/>
                <c:pt idx="0">
                  <c:v>Status</c:v>
                </c:pt>
              </c:strCache>
            </c:strRef>
          </c:tx>
          <c:spPr>
            <a:solidFill>
              <a:srgbClr val="4472c4"/>
            </a:solidFill>
            <a:ln w="9360">
              <a:solidFill>
                <a:srgbClr val="f9f9f9"/>
              </a:solidFill>
              <a:round/>
            </a:ln>
          </c:spPr>
          <c:explosion val="0"/>
          <c:dPt>
            <c:idx val="0"/>
            <c:spPr>
              <a:solidFill>
                <a:srgbClr val="e05c2a"/>
              </a:solidFill>
              <a:ln w="0">
                <a:noFill/>
              </a:ln>
            </c:spPr>
          </c:dPt>
          <c:dPt>
            <c:idx val="1"/>
            <c:spPr>
              <a:solidFill>
                <a:srgbClr val="2e6cb8"/>
              </a:solidFill>
              <a:ln w="0">
                <a:noFill/>
              </a:ln>
            </c:spPr>
          </c:dPt>
          <c:dPt>
            <c:idx val="2"/>
            <c:spPr>
              <a:solidFill>
                <a:srgbClr val="f59e0b"/>
              </a:solidFill>
              <a:ln w="0">
                <a:noFill/>
              </a:ln>
            </c:spPr>
          </c:dPt>
          <c:dLbls>
            <c:numFmt formatCode="0%" sourceLinked="0"/>
            <c:dLbl>
              <c:idx val="0"/>
              <c:numFmt formatCode="0%" sourceLinked="0"/>
              <c:txPr>
                <a:bodyPr wrap="square"/>
                <a:lstStyle/>
                <a:p>
                  <a:pPr>
                    <a:defRPr b="0" sz="1100" spc="-1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eparator>
</c:separator>
            </c:dLbl>
            <c:dLbl>
              <c:idx val="1"/>
              <c:numFmt formatCode="0%" sourceLinked="0"/>
              <c:txPr>
                <a:bodyPr wrap="square"/>
                <a:lstStyle/>
                <a:p>
                  <a:pPr>
                    <a:defRPr b="0" sz="1100" spc="-1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eparator>
</c:separator>
            </c:dLbl>
            <c:dLbl>
              <c:idx val="2"/>
              <c:numFmt formatCode="0%" sourceLinked="0"/>
              <c:txPr>
                <a:bodyPr wrap="square"/>
                <a:lstStyle/>
                <a:p>
                  <a:pPr>
                    <a:defRPr b="0" sz="1100" spc="-1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eparator>
</c:separator>
            </c:dLbl>
            <c:txPr>
              <a:bodyPr wrap="square"/>
              <a:lstStyle/>
              <a:p>
                <a:pPr>
                  <a:defRPr b="0" sz="1800" spc="-1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eparator>
</c:separator>
            <c:showLeaderLines val="0"/>
          </c:dLbls>
          <c:cat>
            <c:strRef>
              <c:f>categories</c:f>
              <c:strCache>
                <c:ptCount val="3"/>
                <c:pt idx="0">
                  <c:v>Not Done</c:v>
                </c:pt>
                <c:pt idx="1">
                  <c:v>Done</c:v>
                </c:pt>
                <c:pt idx="2">
                  <c:v>Pending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3"/>
                <c:pt idx="0">
                  <c:v>9880</c:v>
                </c:pt>
                <c:pt idx="1">
                  <c:v>11150</c:v>
                </c:pt>
                <c:pt idx="2">
                  <c:v>6750</c:v>
                </c:pt>
              </c:numCache>
            </c:numRef>
          </c:val>
        </c:ser>
        <c:firstSliceAng val="0"/>
        <c:holeSize val="50"/>
      </c:doughnutChart>
      <c:spPr>
        <a:noFill/>
        <a:ln w="0">
          <a:noFill/>
        </a:ln>
      </c:spPr>
    </c:plotArea>
    <c:legend>
      <c:legendPos val="b"/>
      <c:overlay val="0"/>
      <c:spPr>
        <a:noFill/>
        <a:ln w="0">
          <a:noFill/>
        </a:ln>
      </c:spPr>
      <c:txPr>
        <a:bodyPr/>
        <a:lstStyle/>
        <a:p>
          <a:pPr>
            <a:defRPr b="0" sz="1000" spc="-1" strike="noStrike">
              <a:solidFill>
                <a:srgbClr val="000000"/>
              </a:solidFill>
              <a:latin typeface="Calibri"/>
            </a:defRPr>
          </a:pPr>
        </a:p>
      </c:txPr>
    </c:legend>
    <c:plotVisOnly val="1"/>
    <c:dispBlanksAs val="span"/>
  </c:chart>
  <c:spPr>
    <a:solidFill>
      <a:srgbClr val="f4f6fa"/>
    </a:solidFill>
    <a:ln w="0">
      <a:noFill/>
    </a:ln>
  </c:spPr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title>
      <c:tx>
        <c:rich>
          <a:bodyPr rot="0"/>
          <a:lstStyle/>
          <a:p>
            <a:pPr>
              <a:defRPr b="0" sz="1200" spc="-1" strike="noStrike">
                <a:solidFill>
                  <a:srgbClr val="1a2a3a"/>
                </a:solidFill>
                <a:latin typeface="Arial"/>
              </a:defRPr>
            </a:pPr>
            <a:r>
              <a:rPr b="0" sz="1200" spc="-1" strike="noStrike">
                <a:solidFill>
                  <a:srgbClr val="1a2a3a"/>
                </a:solidFill>
                <a:latin typeface="Arial"/>
              </a:rPr>
              <a:t>Completion Rate by Subject (%)</a:t>
            </a:r>
          </a:p>
        </c:rich>
      </c:tx>
      <c:overlay val="0"/>
      <c:spPr>
        <a:noFill/>
        <a:ln w="0">
          <a:noFill/>
        </a:ln>
      </c:spPr>
    </c:title>
    <c:autoTitleDeleted val="0"/>
    <c:plotArea>
      <c:barChart>
        <c:barDir val="bar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Completion %</c:v>
                </c:pt>
              </c:strCache>
            </c:strRef>
          </c:tx>
          <c:spPr>
            <a:solidFill>
              <a:srgbClr val="00aeef"/>
            </a:solidFill>
            <a:ln w="0">
              <a:noFill/>
            </a:ln>
          </c:spPr>
          <c:invertIfNegative val="0"/>
          <c:dLbls>
            <c:numFmt formatCode="#,##0" sourceLinked="0"/>
            <c:txPr>
              <a:bodyPr wrap="square"/>
              <a:lstStyle/>
              <a:p>
                <a:pPr>
                  <a:defRPr b="0" sz="1000" spc="-1" strike="noStrike">
                    <a:solidFill>
                      <a:srgbClr val="1a2a3a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6"/>
                <c:pt idx="0">
                  <c:v>Science</c:v>
                </c:pt>
                <c:pt idx="1">
                  <c:v>English</c:v>
                </c:pt>
                <c:pt idx="2">
                  <c:v>Arabic</c:v>
                </c:pt>
                <c:pt idx="3">
                  <c:v>History</c:v>
                </c:pt>
                <c:pt idx="4">
                  <c:v>Math</c:v>
                </c:pt>
                <c:pt idx="5">
                  <c:v>Geography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6"/>
                <c:pt idx="0">
                  <c:v>49.51</c:v>
                </c:pt>
                <c:pt idx="1">
                  <c:v>49.96</c:v>
                </c:pt>
                <c:pt idx="2">
                  <c:v>49.91</c:v>
                </c:pt>
                <c:pt idx="3">
                  <c:v>49.75</c:v>
                </c:pt>
                <c:pt idx="4">
                  <c:v>50.34</c:v>
                </c:pt>
                <c:pt idx="5">
                  <c:v>50.45</c:v>
                </c:pt>
              </c:numCache>
            </c:numRef>
          </c:val>
        </c:ser>
        <c:gapWidth val="150"/>
        <c:overlap val="0"/>
        <c:axId val="43115756"/>
        <c:axId val="53925534"/>
      </c:barChart>
      <c:catAx>
        <c:axId val="4311575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b="0" sz="1200" spc="-1" strike="noStrike">
                <a:solidFill>
                  <a:srgbClr val="8090a8"/>
                </a:solidFill>
                <a:latin typeface="Arial"/>
              </a:defRPr>
            </a:pPr>
          </a:p>
        </c:txPr>
        <c:crossAx val="53925534"/>
        <c:crosses val="autoZero"/>
        <c:auto val="1"/>
        <c:lblAlgn val="ctr"/>
        <c:lblOffset val="100"/>
        <c:noMultiLvlLbl val="0"/>
      </c:catAx>
      <c:valAx>
        <c:axId val="53925534"/>
        <c:scaling>
          <c:orientation val="minMax"/>
          <c:max val="51"/>
          <c:min val="48"/>
        </c:scaling>
        <c:delete val="0"/>
        <c:axPos val="l"/>
        <c:majorGridlines>
          <c:spPr>
            <a:ln w="6480">
              <a:solidFill>
                <a:srgbClr val="dde6f0"/>
              </a:solidFill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b="0" sz="1200" spc="-1" strike="noStrike">
                <a:solidFill>
                  <a:srgbClr val="8090a8"/>
                </a:solidFill>
                <a:latin typeface="Arial"/>
              </a:defRPr>
            </a:pPr>
          </a:p>
        </c:txPr>
        <c:crossAx val="43115756"/>
        <c:crosses val="autoZero"/>
        <c:crossBetween val="between"/>
      </c:valAx>
      <c:spPr>
        <a:noFill/>
        <a:ln w="0">
          <a:noFill/>
        </a:ln>
      </c:spPr>
    </c:plotArea>
    <c:plotVisOnly val="1"/>
    <c:dispBlanksAs val="span"/>
  </c:chart>
  <c:spPr>
    <a:solidFill>
      <a:srgbClr val="f4f6fa"/>
    </a:solidFill>
    <a:ln w="0">
      <a:noFill/>
    </a:ln>
  </c:spPr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title>
      <c:tx>
        <c:rich>
          <a:bodyPr rot="0"/>
          <a:lstStyle/>
          <a:p>
            <a:pPr>
              <a:defRPr b="0" sz="1200" spc="-1" strike="noStrike">
                <a:solidFill>
                  <a:srgbClr val="1a2a3a"/>
                </a:solidFill>
                <a:latin typeface="Arial"/>
              </a:defRPr>
            </a:pPr>
            <a:r>
              <a:rPr b="0" sz="1200" spc="-1" strike="noStrike">
                <a:solidFill>
                  <a:srgbClr val="1a2a3a"/>
                </a:solidFill>
                <a:latin typeface="Arial"/>
              </a:rPr>
              <a:t>Student Count by Score Band</a:t>
            </a:r>
          </a:p>
        </c:rich>
      </c:tx>
      <c:overlay val="0"/>
      <c:spPr>
        <a:noFill/>
        <a:ln w="0">
          <a:noFill/>
        </a:ln>
      </c:spPr>
    </c:title>
    <c:autoTitleDeleted val="0"/>
    <c:plotArea>
      <c:barChart>
        <c:barDir val="bar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Students</c:v>
                </c:pt>
              </c:strCache>
            </c:strRef>
          </c:tx>
          <c:spPr>
            <a:solidFill>
              <a:srgbClr val="2e6cb8"/>
            </a:solidFill>
            <a:ln w="0">
              <a:noFill/>
            </a:ln>
          </c:spPr>
          <c:invertIfNegative val="0"/>
          <c:dPt>
            <c:idx val="0"/>
            <c:invertIfNegative val="0"/>
            <c:spPr>
              <a:solidFill>
                <a:srgbClr val="2e6cb8"/>
              </a:solidFill>
              <a:ln w="0">
                <a:noFill/>
              </a:ln>
            </c:spPr>
          </c:dPt>
          <c:dPt>
            <c:idx val="1"/>
            <c:invertIfNegative val="0"/>
            <c:spPr>
              <a:solidFill>
                <a:srgbClr val="f59e0b"/>
              </a:solidFill>
              <a:ln w="0">
                <a:noFill/>
              </a:ln>
            </c:spPr>
          </c:dPt>
          <c:dPt>
            <c:idx val="2"/>
            <c:invertIfNegative val="0"/>
            <c:spPr>
              <a:solidFill>
                <a:srgbClr val="00c49a"/>
              </a:solidFill>
              <a:ln w="0">
                <a:noFill/>
              </a:ln>
            </c:spPr>
          </c:dPt>
          <c:dPt>
            <c:idx val="3"/>
            <c:invertIfNegative val="0"/>
            <c:spPr>
              <a:solidFill>
                <a:srgbClr val="e05c2a"/>
              </a:solidFill>
              <a:ln w="0">
                <a:noFill/>
              </a:ln>
            </c:spPr>
          </c:dPt>
          <c:dPt>
            <c:idx val="4"/>
            <c:invertIfNegative val="0"/>
            <c:spPr>
              <a:solidFill>
                <a:srgbClr val="8090a8"/>
              </a:solidFill>
              <a:ln w="0">
                <a:noFill/>
              </a:ln>
            </c:spPr>
          </c:dPt>
          <c:dLbls>
            <c:numFmt formatCode="#,##0" sourceLinked="0"/>
            <c:dLbl>
              <c:idx val="0"/>
              <c:numFmt formatCode="#,##0" sourceLinked="0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1a2a3a"/>
                      </a:solidFill>
                      <a:latin typeface="Arial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1"/>
              <c:numFmt formatCode="#,##0" sourceLinked="0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1a2a3a"/>
                      </a:solidFill>
                      <a:latin typeface="Arial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2"/>
              <c:numFmt formatCode="#,##0" sourceLinked="0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1a2a3a"/>
                      </a:solidFill>
                      <a:latin typeface="Arial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3"/>
              <c:numFmt formatCode="#,##0" sourceLinked="0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1a2a3a"/>
                      </a:solidFill>
                      <a:latin typeface="Arial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4"/>
              <c:numFmt formatCode="#,##0" sourceLinked="0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1a2a3a"/>
                      </a:solidFill>
                      <a:latin typeface="Arial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txPr>
              <a:bodyPr wrap="square"/>
              <a:lstStyle/>
              <a:p>
                <a:pPr>
                  <a:defRPr b="0" sz="1000" spc="-1" strike="noStrike">
                    <a:solidFill>
                      <a:srgbClr val="1a2a3a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5"/>
                <c:pt idx="0">
                  <c:v>Good</c:v>
                </c:pt>
                <c:pt idx="1">
                  <c:v>Average</c:v>
                </c:pt>
                <c:pt idx="2">
                  <c:v>Excellent</c:v>
                </c:pt>
                <c:pt idx="3">
                  <c:v>Failing</c:v>
                </c:pt>
                <c:pt idx="4">
                  <c:v>Unknown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5"/>
                <c:pt idx="0">
                  <c:v>4320</c:v>
                </c:pt>
                <c:pt idx="1">
                  <c:v>4190</c:v>
                </c:pt>
                <c:pt idx="2">
                  <c:v>1570</c:v>
                </c:pt>
                <c:pt idx="3">
                  <c:v>1510</c:v>
                </c:pt>
                <c:pt idx="4">
                  <c:v>580</c:v>
                </c:pt>
              </c:numCache>
            </c:numRef>
          </c:val>
        </c:ser>
        <c:gapWidth val="150"/>
        <c:overlap val="0"/>
        <c:axId val="25406795"/>
        <c:axId val="32343409"/>
      </c:barChart>
      <c:catAx>
        <c:axId val="25406795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b="0" sz="1200" spc="-1" strike="noStrike">
                <a:solidFill>
                  <a:srgbClr val="8090a8"/>
                </a:solidFill>
                <a:latin typeface="Arial"/>
              </a:defRPr>
            </a:pPr>
          </a:p>
        </c:txPr>
        <c:crossAx val="32343409"/>
        <c:crosses val="autoZero"/>
        <c:auto val="1"/>
        <c:lblAlgn val="ctr"/>
        <c:lblOffset val="100"/>
        <c:noMultiLvlLbl val="0"/>
      </c:catAx>
      <c:valAx>
        <c:axId val="32343409"/>
        <c:scaling>
          <c:orientation val="minMax"/>
        </c:scaling>
        <c:delete val="0"/>
        <c:axPos val="l"/>
        <c:majorGridlines>
          <c:spPr>
            <a:ln w="6480">
              <a:solidFill>
                <a:srgbClr val="dde6f0"/>
              </a:solidFill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b="0" sz="1200" spc="-1" strike="noStrike">
                <a:solidFill>
                  <a:srgbClr val="8090a8"/>
                </a:solidFill>
                <a:latin typeface="Arial"/>
              </a:defRPr>
            </a:pPr>
          </a:p>
        </c:txPr>
        <c:crossAx val="25406795"/>
        <c:crosses val="autoZero"/>
        <c:crossBetween val="between"/>
      </c:valAx>
      <c:spPr>
        <a:noFill/>
        <a:ln w="0">
          <a:noFill/>
        </a:ln>
      </c:spPr>
    </c:plotArea>
    <c:plotVisOnly val="1"/>
    <c:dispBlanksAs val="span"/>
  </c:chart>
  <c:spPr>
    <a:solidFill>
      <a:srgbClr val="f4f6fa"/>
    </a:solidFill>
    <a:ln w="0">
      <a:noFill/>
    </a:ln>
  </c:spPr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title>
      <c:tx>
        <c:rich>
          <a:bodyPr rot="0"/>
          <a:lstStyle/>
          <a:p>
            <a:pPr>
              <a:defRPr b="0" sz="1200" spc="-1" strike="noStrike">
                <a:solidFill>
                  <a:srgbClr val="1a2a3a"/>
                </a:solidFill>
                <a:latin typeface="Arial"/>
              </a:defRPr>
            </a:pPr>
            <a:r>
              <a:rPr b="0" sz="1200" spc="-1" strike="noStrike">
                <a:solidFill>
                  <a:srgbClr val="1a2a3a"/>
                </a:solidFill>
                <a:latin typeface="Arial"/>
              </a:rPr>
              <a:t>Avg Exam Score by Grade Level</a:t>
            </a:r>
          </a:p>
        </c:rich>
      </c:tx>
      <c:overlay val="0"/>
      <c:spPr>
        <a:noFill/>
        <a:ln w="0">
          <a:noFill/>
        </a:ln>
      </c:spPr>
    </c:title>
    <c:autoTitleDeleted val="0"/>
    <c:plotArea>
      <c:barChart>
        <c:barDir val="bar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Avg Score</c:v>
                </c:pt>
              </c:strCache>
            </c:strRef>
          </c:tx>
          <c:spPr>
            <a:solidFill>
              <a:srgbClr val="00aeef"/>
            </a:solidFill>
            <a:ln w="0">
              <a:noFill/>
            </a:ln>
          </c:spPr>
          <c:invertIfNegative val="0"/>
          <c:dLbls>
            <c:numFmt formatCode="#,##0" sourceLinked="0"/>
            <c:txPr>
              <a:bodyPr wrap="square"/>
              <a:lstStyle/>
              <a:p>
                <a:pPr>
                  <a:defRPr b="0" sz="1000" spc="-1" strike="noStrike">
                    <a:solidFill>
                      <a:srgbClr val="1a2a3a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5"/>
                <c:pt idx="0">
                  <c:v>Grade 1</c:v>
                </c:pt>
                <c:pt idx="1">
                  <c:v>Grade 2</c:v>
                </c:pt>
                <c:pt idx="2">
                  <c:v>Grade 3</c:v>
                </c:pt>
                <c:pt idx="3">
                  <c:v>Grade 4</c:v>
                </c:pt>
                <c:pt idx="4">
                  <c:v>Grade 5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5"/>
                <c:pt idx="0">
                  <c:v>69.81</c:v>
                </c:pt>
                <c:pt idx="1">
                  <c:v>69.85</c:v>
                </c:pt>
                <c:pt idx="2">
                  <c:v>70.24</c:v>
                </c:pt>
                <c:pt idx="3">
                  <c:v>69.92</c:v>
                </c:pt>
                <c:pt idx="4">
                  <c:v>69.95</c:v>
                </c:pt>
              </c:numCache>
            </c:numRef>
          </c:val>
        </c:ser>
        <c:gapWidth val="150"/>
        <c:overlap val="0"/>
        <c:axId val="26495201"/>
        <c:axId val="48223674"/>
      </c:barChart>
      <c:catAx>
        <c:axId val="26495201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b="0" sz="1200" spc="-1" strike="noStrike">
                <a:solidFill>
                  <a:srgbClr val="8090a8"/>
                </a:solidFill>
                <a:latin typeface="Arial"/>
              </a:defRPr>
            </a:pPr>
          </a:p>
        </c:txPr>
        <c:crossAx val="48223674"/>
        <c:crosses val="autoZero"/>
        <c:auto val="1"/>
        <c:lblAlgn val="ctr"/>
        <c:lblOffset val="100"/>
        <c:noMultiLvlLbl val="0"/>
      </c:catAx>
      <c:valAx>
        <c:axId val="48223674"/>
        <c:scaling>
          <c:orientation val="minMax"/>
          <c:max val="72"/>
          <c:min val="68"/>
        </c:scaling>
        <c:delete val="0"/>
        <c:axPos val="l"/>
        <c:majorGridlines>
          <c:spPr>
            <a:ln w="6480">
              <a:solidFill>
                <a:srgbClr val="dde6f0"/>
              </a:solidFill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b="0" sz="1200" spc="-1" strike="noStrike">
                <a:solidFill>
                  <a:srgbClr val="8090a8"/>
                </a:solidFill>
                <a:latin typeface="Arial"/>
              </a:defRPr>
            </a:pPr>
          </a:p>
        </c:txPr>
        <c:crossAx val="26495201"/>
        <c:crosses val="autoZero"/>
        <c:crossBetween val="between"/>
      </c:valAx>
      <c:spPr>
        <a:noFill/>
        <a:ln w="0">
          <a:noFill/>
        </a:ln>
      </c:spPr>
    </c:plotArea>
    <c:plotVisOnly val="1"/>
    <c:dispBlanksAs val="span"/>
  </c:chart>
  <c:spPr>
    <a:solidFill>
      <a:srgbClr val="f4f6fa"/>
    </a:solidFill>
    <a:ln w="0">
      <a:noFill/>
    </a:ln>
  </c:spPr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title>
      <c:tx>
        <c:rich>
          <a:bodyPr rot="0"/>
          <a:lstStyle/>
          <a:p>
            <a:pPr>
              <a:defRPr b="0" sz="1200" spc="-1" strike="noStrike">
                <a:solidFill>
                  <a:srgbClr val="1a2a3a"/>
                </a:solidFill>
                <a:latin typeface="Arial"/>
              </a:defRPr>
            </a:pPr>
            <a:r>
              <a:rPr b="0" sz="1200" spc="-1" strike="noStrike">
                <a:solidFill>
                  <a:srgbClr val="1a2a3a"/>
                </a:solidFill>
                <a:latin typeface="Arial"/>
              </a:rPr>
              <a:t>Message Type Distribution</a:t>
            </a:r>
          </a:p>
        </c:rich>
      </c:tx>
      <c:overlay val="0"/>
      <c:spPr>
        <a:noFill/>
        <a:ln w="0">
          <a:noFill/>
        </a:ln>
      </c:spPr>
    </c:title>
    <c:autoTitleDeleted val="0"/>
    <c:plotArea>
      <c:doughnutChart>
        <c:varyColors val="1"/>
        <c:ser>
          <c:idx val="0"/>
          <c:order val="0"/>
          <c:tx>
            <c:strRef>
              <c:f>label 0</c:f>
              <c:strCache>
                <c:ptCount val="1"/>
                <c:pt idx="0">
                  <c:v>Type</c:v>
                </c:pt>
              </c:strCache>
            </c:strRef>
          </c:tx>
          <c:spPr>
            <a:solidFill>
              <a:srgbClr val="4472c4"/>
            </a:solidFill>
            <a:ln w="9360">
              <a:solidFill>
                <a:srgbClr val="f9f9f9"/>
              </a:solidFill>
              <a:round/>
            </a:ln>
          </c:spPr>
          <c:explosion val="0"/>
          <c:dPt>
            <c:idx val="0"/>
            <c:spPr>
              <a:solidFill>
                <a:srgbClr val="2e6cb8"/>
              </a:solidFill>
              <a:ln w="0">
                <a:noFill/>
              </a:ln>
            </c:spPr>
          </c:dPt>
          <c:dPt>
            <c:idx val="1"/>
            <c:spPr>
              <a:solidFill>
                <a:srgbClr val="00aeef"/>
              </a:solidFill>
              <a:ln w="0">
                <a:noFill/>
              </a:ln>
            </c:spPr>
          </c:dPt>
          <c:dPt>
            <c:idx val="2"/>
            <c:spPr>
              <a:solidFill>
                <a:srgbClr val="00c49a"/>
              </a:solidFill>
              <a:ln w="0">
                <a:noFill/>
              </a:ln>
            </c:spPr>
          </c:dPt>
          <c:dLbls>
            <c:numFmt formatCode="0%" sourceLinked="0"/>
            <c:dLbl>
              <c:idx val="0"/>
              <c:numFmt formatCode="0%" sourceLinked="0"/>
              <c:txPr>
                <a:bodyPr wrap="square"/>
                <a:lstStyle/>
                <a:p>
                  <a:pPr>
                    <a:defRPr b="0" sz="1100" spc="-1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eparator>
</c:separator>
            </c:dLbl>
            <c:dLbl>
              <c:idx val="1"/>
              <c:numFmt formatCode="0%" sourceLinked="0"/>
              <c:txPr>
                <a:bodyPr wrap="square"/>
                <a:lstStyle/>
                <a:p>
                  <a:pPr>
                    <a:defRPr b="0" sz="1100" spc="-1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eparator>
</c:separator>
            </c:dLbl>
            <c:dLbl>
              <c:idx val="2"/>
              <c:numFmt formatCode="0%" sourceLinked="0"/>
              <c:txPr>
                <a:bodyPr wrap="square"/>
                <a:lstStyle/>
                <a:p>
                  <a:pPr>
                    <a:defRPr b="0" sz="1100" spc="-1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eparator>
</c:separator>
            </c:dLbl>
            <c:txPr>
              <a:bodyPr wrap="square"/>
              <a:lstStyle/>
              <a:p>
                <a:pPr>
                  <a:defRPr b="0" sz="1800" spc="-1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eparator>
</c:separator>
            <c:showLeaderLines val="0"/>
          </c:dLbls>
          <c:cat>
            <c:strRef>
              <c:f>categories</c:f>
              <c:strCache>
                <c:ptCount val="3"/>
                <c:pt idx="0">
                  <c:v>Teacher to Parent</c:v>
                </c:pt>
                <c:pt idx="1">
                  <c:v>Automated Reminder</c:v>
                </c:pt>
                <c:pt idx="2">
                  <c:v>Parent to Teacher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3"/>
                <c:pt idx="0">
                  <c:v>8149</c:v>
                </c:pt>
                <c:pt idx="1">
                  <c:v>8106</c:v>
                </c:pt>
                <c:pt idx="2">
                  <c:v>8057</c:v>
                </c:pt>
              </c:numCache>
            </c:numRef>
          </c:val>
        </c:ser>
        <c:firstSliceAng val="0"/>
        <c:holeSize val="50"/>
      </c:doughnutChart>
      <c:spPr>
        <a:noFill/>
        <a:ln w="0">
          <a:noFill/>
        </a:ln>
      </c:spPr>
    </c:plotArea>
    <c:legend>
      <c:legendPos val="b"/>
      <c:overlay val="0"/>
      <c:spPr>
        <a:noFill/>
        <a:ln w="0">
          <a:noFill/>
        </a:ln>
      </c:spPr>
      <c:txPr>
        <a:bodyPr/>
        <a:lstStyle/>
        <a:p>
          <a:pPr>
            <a:defRPr b="0" sz="1000" spc="-1" strike="noStrike">
              <a:solidFill>
                <a:srgbClr val="000000"/>
              </a:solidFill>
              <a:latin typeface="Calibri"/>
            </a:defRPr>
          </a:pPr>
        </a:p>
      </c:txPr>
    </c:legend>
    <c:plotVisOnly val="1"/>
    <c:dispBlanksAs val="span"/>
  </c:chart>
  <c:spPr>
    <a:solidFill>
      <a:srgbClr val="f4f6fa"/>
    </a:solidFill>
    <a:ln w="0">
      <a:noFill/>
    </a:ln>
  </c:spPr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title>
      <c:tx>
        <c:rich>
          <a:bodyPr rot="0"/>
          <a:lstStyle/>
          <a:p>
            <a:pPr>
              <a:defRPr b="0" sz="1200" spc="-1" strike="noStrike">
                <a:solidFill>
                  <a:srgbClr val="1a2a3a"/>
                </a:solidFill>
                <a:latin typeface="Arial"/>
              </a:defRPr>
            </a:pPr>
            <a:r>
              <a:rPr b="0" sz="1200" spc="-1" strike="noStrike">
                <a:solidFill>
                  <a:srgbClr val="1a2a3a"/>
                </a:solidFill>
                <a:latin typeface="Arial"/>
              </a:rPr>
              <a:t>Silent Students % by Grade</a:t>
            </a:r>
          </a:p>
        </c:rich>
      </c:tx>
      <c:overlay val="0"/>
      <c:spPr>
        <a:noFill/>
        <a:ln w="0">
          <a:noFill/>
        </a:ln>
      </c:spPr>
    </c:title>
    <c:autoTitleDeleted val="0"/>
    <c:plotArea>
      <c:barChart>
        <c:barDir val="bar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Silent %</c:v>
                </c:pt>
              </c:strCache>
            </c:strRef>
          </c:tx>
          <c:spPr>
            <a:solidFill>
              <a:srgbClr val="e05c2a"/>
            </a:solidFill>
            <a:ln w="0">
              <a:noFill/>
            </a:ln>
          </c:spPr>
          <c:invertIfNegative val="0"/>
          <c:dLbls>
            <c:numFmt formatCode="#,##0" sourceLinked="0"/>
            <c:txPr>
              <a:bodyPr wrap="square"/>
              <a:lstStyle/>
              <a:p>
                <a:pPr>
                  <a:defRPr b="0" sz="1000" spc="-1" strike="noStrike">
                    <a:solidFill>
                      <a:srgbClr val="1a2a3a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5"/>
                <c:pt idx="0">
                  <c:v>Grade 1</c:v>
                </c:pt>
                <c:pt idx="1">
                  <c:v>Grade 5</c:v>
                </c:pt>
                <c:pt idx="2">
                  <c:v>Grade 4</c:v>
                </c:pt>
                <c:pt idx="3">
                  <c:v>Grade 3</c:v>
                </c:pt>
                <c:pt idx="4">
                  <c:v>Grade 2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5"/>
                <c:pt idx="0">
                  <c:v>14.73</c:v>
                </c:pt>
                <c:pt idx="1">
                  <c:v>13.59</c:v>
                </c:pt>
                <c:pt idx="2">
                  <c:v>13.57</c:v>
                </c:pt>
                <c:pt idx="3">
                  <c:v>13</c:v>
                </c:pt>
                <c:pt idx="4">
                  <c:v>12.75</c:v>
                </c:pt>
              </c:numCache>
            </c:numRef>
          </c:val>
        </c:ser>
        <c:gapWidth val="150"/>
        <c:overlap val="0"/>
        <c:axId val="58378757"/>
        <c:axId val="88066785"/>
      </c:barChart>
      <c:catAx>
        <c:axId val="58378757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b="0" sz="1200" spc="-1" strike="noStrike">
                <a:solidFill>
                  <a:srgbClr val="8090a8"/>
                </a:solidFill>
                <a:latin typeface="Arial"/>
              </a:defRPr>
            </a:pPr>
          </a:p>
        </c:txPr>
        <c:crossAx val="88066785"/>
        <c:crosses val="autoZero"/>
        <c:auto val="1"/>
        <c:lblAlgn val="ctr"/>
        <c:lblOffset val="100"/>
        <c:noMultiLvlLbl val="0"/>
      </c:catAx>
      <c:valAx>
        <c:axId val="88066785"/>
        <c:scaling>
          <c:orientation val="minMax"/>
          <c:max val="16"/>
          <c:min val="11"/>
        </c:scaling>
        <c:delete val="0"/>
        <c:axPos val="l"/>
        <c:majorGridlines>
          <c:spPr>
            <a:ln w="6480">
              <a:solidFill>
                <a:srgbClr val="dde6f0"/>
              </a:solidFill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b="0" sz="1200" spc="-1" strike="noStrike">
                <a:solidFill>
                  <a:srgbClr val="8090a8"/>
                </a:solidFill>
                <a:latin typeface="Arial"/>
              </a:defRPr>
            </a:pPr>
          </a:p>
        </c:txPr>
        <c:crossAx val="58378757"/>
        <c:crosses val="autoZero"/>
        <c:crossBetween val="between"/>
      </c:valAx>
      <c:spPr>
        <a:noFill/>
        <a:ln w="0">
          <a:noFill/>
        </a:ln>
      </c:spPr>
    </c:plotArea>
    <c:plotVisOnly val="1"/>
    <c:dispBlanksAs val="span"/>
  </c:chart>
  <c:spPr>
    <a:solidFill>
      <a:srgbClr val="f4f6fa"/>
    </a:solidFill>
    <a:ln w="0">
      <a:noFill/>
    </a:ln>
  </c:spPr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title>
      <c:tx>
        <c:rich>
          <a:bodyPr rot="0"/>
          <a:lstStyle/>
          <a:p>
            <a:pPr>
              <a:defRPr b="0" sz="1200" spc="-1" strike="noStrike">
                <a:solidFill>
                  <a:srgbClr val="1a2a3a"/>
                </a:solidFill>
                <a:latin typeface="Arial"/>
              </a:defRPr>
            </a:pPr>
            <a:r>
              <a:rPr b="0" sz="1200" spc="-1" strike="noStrike">
                <a:solidFill>
                  <a:srgbClr val="1a2a3a"/>
                </a:solidFill>
                <a:latin typeface="Arial"/>
              </a:rPr>
              <a:t>At-Risk Count by Grade</a:t>
            </a:r>
          </a:p>
        </c:rich>
      </c:tx>
      <c:overlay val="0"/>
      <c:spPr>
        <a:noFill/>
        <a:ln w="0">
          <a:noFill/>
        </a:ln>
      </c:spPr>
    </c:title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At-Risk</c:v>
                </c:pt>
              </c:strCache>
            </c:strRef>
          </c:tx>
          <c:spPr>
            <a:solidFill>
              <a:srgbClr val="e05c2a"/>
            </a:solidFill>
            <a:ln w="0">
              <a:noFill/>
            </a:ln>
          </c:spPr>
          <c:invertIfNegative val="0"/>
          <c:dLbls>
            <c:numFmt formatCode="#,##0" sourceLinked="0"/>
            <c:txPr>
              <a:bodyPr wrap="square"/>
              <a:lstStyle/>
              <a:p>
                <a:pPr>
                  <a:defRPr b="0" sz="1000" spc="-1" strike="noStrike">
                    <a:solidFill>
                      <a:srgbClr val="1a2a3a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5"/>
                <c:pt idx="0">
                  <c:v>Grade 1</c:v>
                </c:pt>
                <c:pt idx="1">
                  <c:v>Grade 2</c:v>
                </c:pt>
                <c:pt idx="2">
                  <c:v>Grade 3</c:v>
                </c:pt>
                <c:pt idx="3">
                  <c:v>Grade 4</c:v>
                </c:pt>
                <c:pt idx="4">
                  <c:v>Grade 5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5"/>
                <c:pt idx="0">
                  <c:v>302</c:v>
                </c:pt>
                <c:pt idx="1">
                  <c:v>288</c:v>
                </c:pt>
                <c:pt idx="2">
                  <c:v>311</c:v>
                </c:pt>
                <c:pt idx="3">
                  <c:v>325</c:v>
                </c:pt>
                <c:pt idx="4">
                  <c:v>289</c:v>
                </c:pt>
              </c:numCache>
            </c:numRef>
          </c:val>
        </c:ser>
        <c:gapWidth val="150"/>
        <c:overlap val="0"/>
        <c:axId val="72890873"/>
        <c:axId val="67818541"/>
      </c:barChart>
      <c:catAx>
        <c:axId val="72890873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b="0" sz="1200" spc="-1" strike="noStrike">
                <a:solidFill>
                  <a:srgbClr val="8090a8"/>
                </a:solidFill>
                <a:latin typeface="Arial"/>
              </a:defRPr>
            </a:pPr>
          </a:p>
        </c:txPr>
        <c:crossAx val="67818541"/>
        <c:crosses val="autoZero"/>
        <c:auto val="1"/>
        <c:lblAlgn val="ctr"/>
        <c:lblOffset val="100"/>
        <c:noMultiLvlLbl val="0"/>
      </c:catAx>
      <c:valAx>
        <c:axId val="67818541"/>
        <c:scaling>
          <c:orientation val="minMax"/>
        </c:scaling>
        <c:delete val="0"/>
        <c:axPos val="l"/>
        <c:majorGridlines>
          <c:spPr>
            <a:ln w="6480">
              <a:solidFill>
                <a:srgbClr val="dde6f0"/>
              </a:solidFill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b="0" sz="1200" spc="-1" strike="noStrike">
                <a:solidFill>
                  <a:srgbClr val="8090a8"/>
                </a:solidFill>
                <a:latin typeface="Arial"/>
              </a:defRPr>
            </a:pPr>
          </a:p>
        </c:txPr>
        <c:crossAx val="72890873"/>
        <c:crosses val="autoZero"/>
        <c:crossBetween val="between"/>
      </c:valAx>
      <c:spPr>
        <a:noFill/>
        <a:ln w="0">
          <a:noFill/>
        </a:ln>
      </c:spPr>
    </c:plotArea>
    <c:plotVisOnly val="1"/>
    <c:dispBlanksAs val="span"/>
  </c:chart>
  <c:spPr>
    <a:solidFill>
      <a:srgbClr val="f4f6fa"/>
    </a:solidFill>
    <a:ln w="0">
      <a:noFill/>
    </a:ln>
  </c:spPr>
</c:chartSpace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move the slide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74F5C5A7-DD88-4962-A6C9-BBD589277DB6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9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310EC50-70CB-4CD2-819C-5585BEE5A586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9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6CEBF0B-554B-492A-96A0-AAA0A0D95A10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30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BA6EDB4-D4AD-4A7A-8BBB-46B1C6C4D6F1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30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C97A4DF-3FB0-48E1-BAF3-BC9298243564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30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2DB723B-06F4-480E-91F6-7E4534BE9F77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31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AE51BF6-9C81-4D4B-B77F-4907E4D698C4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31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7D4E205-4F47-4411-AC42-C638D059D96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31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A740679-A0F3-40E4-898C-AB1BA1F5037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31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4581946-9D4D-48A2-9424-CF4F5EB750FA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32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4A1DEB9-1DCA-4C9D-B986-007AD142A345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32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D3CD4E6-050F-45E3-9CDD-238C391632B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chart" Target="..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chart" Target="../charts/chart3.xml"/><Relationship Id="rId2" Type="http://schemas.openxmlformats.org/officeDocument/2006/relationships/chart" Target="../charts/chart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chart" Target="../charts/chart5.xml"/><Relationship Id="rId2" Type="http://schemas.openxmlformats.org/officeDocument/2006/relationships/chart" Target="../charts/chart6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chart" Target="../charts/chart7.xml"/><Relationship Id="rId2" Type="http://schemas.openxmlformats.org/officeDocument/2006/relationships/chart" Target="../charts/chart8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chart" Target="../charts/chart9.xml"/><Relationship Id="rId2" Type="http://schemas.openxmlformats.org/officeDocument/2006/relationships/chart" Target="../charts/chart10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chart" Target="../charts/chart1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0"/>
          <p:cNvSpPr/>
          <p:nvPr/>
        </p:nvSpPr>
        <p:spPr>
          <a:xfrm>
            <a:off x="0" y="0"/>
            <a:ext cx="3474000" cy="5142960"/>
          </a:xfrm>
          <a:prstGeom prst="rect">
            <a:avLst/>
          </a:prstGeom>
          <a:solidFill>
            <a:srgbClr val="1a3c6b"/>
          </a:solidFill>
          <a:ln w="12700">
            <a:solidFill>
              <a:srgbClr val="1a3c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" name="Shape 1"/>
          <p:cNvSpPr/>
          <p:nvPr/>
        </p:nvSpPr>
        <p:spPr>
          <a:xfrm>
            <a:off x="3474720" y="0"/>
            <a:ext cx="54000" cy="5142960"/>
          </a:xfrm>
          <a:prstGeom prst="rect">
            <a:avLst/>
          </a:prstGeom>
          <a:solidFill>
            <a:srgbClr val="00aeef"/>
          </a:solidFill>
          <a:ln w="12700">
            <a:solidFill>
              <a:srgbClr val="00ae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" name="Text 2"/>
          <p:cNvSpPr/>
          <p:nvPr/>
        </p:nvSpPr>
        <p:spPr>
          <a:xfrm>
            <a:off x="274320" y="822960"/>
            <a:ext cx="2925360" cy="100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200" spc="-1" strike="noStrike">
                <a:solidFill>
                  <a:srgbClr val="ffffff"/>
                </a:solidFill>
                <a:latin typeface="Calibri Black"/>
                <a:ea typeface="Calibri Black"/>
              </a:rPr>
              <a:t>NTI</a:t>
            </a:r>
            <a:endParaRPr b="0" lang="en-US" sz="7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" name="Text 3"/>
          <p:cNvSpPr/>
          <p:nvPr/>
        </p:nvSpPr>
        <p:spPr>
          <a:xfrm>
            <a:off x="182880" y="1874520"/>
            <a:ext cx="3108240" cy="191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00aeef"/>
                </a:solidFill>
                <a:latin typeface="Calibri"/>
                <a:ea typeface="Calibri"/>
              </a:rPr>
              <a:t>Academic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00aeef"/>
                </a:solidFill>
                <a:latin typeface="Calibri"/>
                <a:ea typeface="Calibri"/>
              </a:rPr>
              <a:t>Success &amp;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00aeef"/>
                </a:solidFill>
                <a:latin typeface="Calibri"/>
                <a:ea typeface="Calibri"/>
              </a:rPr>
              <a:t>Intervention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" name="Text 4"/>
          <p:cNvSpPr/>
          <p:nvPr/>
        </p:nvSpPr>
        <p:spPr>
          <a:xfrm>
            <a:off x="3749040" y="1280160"/>
            <a:ext cx="511992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Student Academic Health Analysis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" name="Text 5"/>
          <p:cNvSpPr/>
          <p:nvPr/>
        </p:nvSpPr>
        <p:spPr>
          <a:xfrm>
            <a:off x="3749040" y="1965960"/>
            <a:ext cx="5028480" cy="100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b0c4de"/>
                </a:solidFill>
                <a:latin typeface="Calibri"/>
                <a:ea typeface="Calibri"/>
              </a:rPr>
              <a:t>A full end-to-end data analysis pipeline examining 12,156 students across five grade levels over a complete academic year.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" name="Shape 6"/>
          <p:cNvSpPr/>
          <p:nvPr/>
        </p:nvSpPr>
        <p:spPr>
          <a:xfrm>
            <a:off x="3749040" y="3200400"/>
            <a:ext cx="5028480" cy="8280"/>
          </a:xfrm>
          <a:prstGeom prst="rect">
            <a:avLst/>
          </a:prstGeom>
          <a:solidFill>
            <a:srgbClr val="00aeef"/>
          </a:solidFill>
          <a:ln w="12700">
            <a:solidFill>
              <a:srgbClr val="00ae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36000" bIns="-36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" name="Text 7"/>
          <p:cNvSpPr/>
          <p:nvPr/>
        </p:nvSpPr>
        <p:spPr>
          <a:xfrm>
            <a:off x="3749040" y="3337560"/>
            <a:ext cx="146232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8090a8"/>
                </a:solidFill>
                <a:latin typeface="Calibri"/>
                <a:ea typeface="Calibri"/>
              </a:rPr>
              <a:t>Prepared by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" name="Text 8"/>
          <p:cNvSpPr/>
          <p:nvPr/>
        </p:nvSpPr>
        <p:spPr>
          <a:xfrm>
            <a:off x="5257800" y="3337560"/>
            <a:ext cx="351972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Nour Hatem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" name="Text 9"/>
          <p:cNvSpPr/>
          <p:nvPr/>
        </p:nvSpPr>
        <p:spPr>
          <a:xfrm>
            <a:off x="3749040" y="3684960"/>
            <a:ext cx="146232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8090a8"/>
                </a:solidFill>
                <a:latin typeface="Calibri"/>
                <a:ea typeface="Calibri"/>
              </a:rPr>
              <a:t>Program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" name="Text 10"/>
          <p:cNvSpPr/>
          <p:nvPr/>
        </p:nvSpPr>
        <p:spPr>
          <a:xfrm>
            <a:off x="5257800" y="3684960"/>
            <a:ext cx="351972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NTI — Data Analysis Track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" name="Text 11"/>
          <p:cNvSpPr/>
          <p:nvPr/>
        </p:nvSpPr>
        <p:spPr>
          <a:xfrm>
            <a:off x="3749040" y="4032360"/>
            <a:ext cx="146232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8090a8"/>
                </a:solidFill>
                <a:latin typeface="Calibri"/>
                <a:ea typeface="Calibri"/>
              </a:rPr>
              <a:t>Audience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" name="Text 12"/>
          <p:cNvSpPr/>
          <p:nvPr/>
        </p:nvSpPr>
        <p:spPr>
          <a:xfrm>
            <a:off x="5257800" y="4032360"/>
            <a:ext cx="351972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ENG. DONIA — Evaluation Committee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" name="Text 13"/>
          <p:cNvSpPr/>
          <p:nvPr/>
        </p:nvSpPr>
        <p:spPr>
          <a:xfrm>
            <a:off x="3749040" y="4380120"/>
            <a:ext cx="146232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8090a8"/>
                </a:solidFill>
                <a:latin typeface="Calibri"/>
                <a:ea typeface="Calibri"/>
              </a:rPr>
              <a:t>Period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" name="Text 14"/>
          <p:cNvSpPr/>
          <p:nvPr/>
        </p:nvSpPr>
        <p:spPr>
          <a:xfrm>
            <a:off x="5257800" y="4380120"/>
            <a:ext cx="351972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March 2024 – March 2025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" name="Text 15"/>
          <p:cNvSpPr/>
          <p:nvPr/>
        </p:nvSpPr>
        <p:spPr>
          <a:xfrm>
            <a:off x="3749040" y="4663440"/>
            <a:ext cx="50284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00aeef"/>
                </a:solidFill>
                <a:latin typeface="Calibri"/>
                <a:ea typeface="Calibri"/>
              </a:rPr>
              <a:t>SQL Server 2025  →  Python 3.12  →  Power BI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hape 0"/>
          <p:cNvSpPr/>
          <p:nvPr/>
        </p:nvSpPr>
        <p:spPr>
          <a:xfrm>
            <a:off x="0" y="0"/>
            <a:ext cx="9143280" cy="65772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" name="Text 1"/>
          <p:cNvSpPr/>
          <p:nvPr/>
        </p:nvSpPr>
        <p:spPr>
          <a:xfrm>
            <a:off x="365760" y="0"/>
            <a:ext cx="685728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libri"/>
                <a:ea typeface="Calibri"/>
              </a:rPr>
              <a:t>Pipeline Architecture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" name="Text 2"/>
          <p:cNvSpPr/>
          <p:nvPr/>
        </p:nvSpPr>
        <p:spPr>
          <a:xfrm>
            <a:off x="0" y="0"/>
            <a:ext cx="877752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0aeef"/>
                </a:solidFill>
                <a:latin typeface="Calibri"/>
                <a:ea typeface="Calibri"/>
              </a:rPr>
              <a:t>How raw data became actionable insight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Text 3"/>
          <p:cNvSpPr/>
          <p:nvPr/>
        </p:nvSpPr>
        <p:spPr>
          <a:xfrm>
            <a:off x="0" y="4864680"/>
            <a:ext cx="91432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Shape 4"/>
          <p:cNvSpPr/>
          <p:nvPr/>
        </p:nvSpPr>
        <p:spPr>
          <a:xfrm>
            <a:off x="365760" y="822960"/>
            <a:ext cx="1919520" cy="347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f0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Shape 5"/>
          <p:cNvSpPr/>
          <p:nvPr/>
        </p:nvSpPr>
        <p:spPr>
          <a:xfrm>
            <a:off x="365760" y="822960"/>
            <a:ext cx="1919520" cy="72360"/>
          </a:xfrm>
          <a:prstGeom prst="rect">
            <a:avLst/>
          </a:prstGeom>
          <a:solidFill>
            <a:srgbClr val="8090a8"/>
          </a:solidFill>
          <a:ln w="12700">
            <a:solidFill>
              <a:srgbClr val="8090a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" name="Text 6"/>
          <p:cNvSpPr/>
          <p:nvPr/>
        </p:nvSpPr>
        <p:spPr>
          <a:xfrm>
            <a:off x="365760" y="868680"/>
            <a:ext cx="191952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600" spc="-1" strike="noStrike">
                <a:solidFill>
                  <a:srgbClr val="8090a8"/>
                </a:solidFill>
                <a:latin typeface="Calibri Black"/>
                <a:ea typeface="Calibri Black"/>
              </a:rPr>
              <a:t>01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Text 7"/>
          <p:cNvSpPr/>
          <p:nvPr/>
        </p:nvSpPr>
        <p:spPr>
          <a:xfrm>
            <a:off x="457200" y="1554480"/>
            <a:ext cx="173664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1a2a3a"/>
                </a:solidFill>
                <a:latin typeface="Calibri"/>
                <a:ea typeface="Calibri"/>
              </a:rPr>
              <a:t>Raw Data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Text 8"/>
          <p:cNvSpPr/>
          <p:nvPr/>
        </p:nvSpPr>
        <p:spPr>
          <a:xfrm>
            <a:off x="457200" y="1993320"/>
            <a:ext cx="173664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8090a8"/>
                </a:solidFill>
                <a:latin typeface="Calibri"/>
                <a:ea typeface="Calibri"/>
              </a:rPr>
              <a:t>5 CSV files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Text 9"/>
          <p:cNvSpPr/>
          <p:nvPr/>
        </p:nvSpPr>
        <p:spPr>
          <a:xfrm>
            <a:off x="475560" y="2423160"/>
            <a:ext cx="1699920" cy="146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8090a8"/>
                </a:solidFill>
                <a:latin typeface="Calibri"/>
                <a:ea typeface="Calibri"/>
              </a:rPr>
              <a:t>students · attendance · homework · performance · communication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Text 10"/>
          <p:cNvSpPr/>
          <p:nvPr/>
        </p:nvSpPr>
        <p:spPr>
          <a:xfrm>
            <a:off x="2286000" y="2011680"/>
            <a:ext cx="20052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2e6cb8"/>
                </a:solidFill>
                <a:latin typeface="Calibri"/>
                <a:ea typeface="Calibri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Shape 11"/>
          <p:cNvSpPr/>
          <p:nvPr/>
        </p:nvSpPr>
        <p:spPr>
          <a:xfrm>
            <a:off x="2487240" y="822960"/>
            <a:ext cx="1919520" cy="347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f0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Shape 12"/>
          <p:cNvSpPr/>
          <p:nvPr/>
        </p:nvSpPr>
        <p:spPr>
          <a:xfrm>
            <a:off x="2487240" y="822960"/>
            <a:ext cx="1919520" cy="72360"/>
          </a:xfrm>
          <a:prstGeom prst="rect">
            <a:avLst/>
          </a:prstGeom>
          <a:solidFill>
            <a:srgbClr val="2e6cb8"/>
          </a:solidFill>
          <a:ln w="12700">
            <a:solidFill>
              <a:srgbClr val="2e6cb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" name="Text 13"/>
          <p:cNvSpPr/>
          <p:nvPr/>
        </p:nvSpPr>
        <p:spPr>
          <a:xfrm>
            <a:off x="2487240" y="868680"/>
            <a:ext cx="191952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600" spc="-1" strike="noStrike">
                <a:solidFill>
                  <a:srgbClr val="2e6cb8"/>
                </a:solidFill>
                <a:latin typeface="Calibri Black"/>
                <a:ea typeface="Calibri Black"/>
              </a:rPr>
              <a:t>02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Text 14"/>
          <p:cNvSpPr/>
          <p:nvPr/>
        </p:nvSpPr>
        <p:spPr>
          <a:xfrm>
            <a:off x="2578680" y="1554480"/>
            <a:ext cx="173664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1a2a3a"/>
                </a:solidFill>
                <a:latin typeface="Calibri"/>
                <a:ea typeface="Calibri"/>
              </a:rPr>
              <a:t>SQL Server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Text 15"/>
          <p:cNvSpPr/>
          <p:nvPr/>
        </p:nvSpPr>
        <p:spPr>
          <a:xfrm>
            <a:off x="2578680" y="1993320"/>
            <a:ext cx="173664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2e6cb8"/>
                </a:solidFill>
                <a:latin typeface="Calibri"/>
                <a:ea typeface="Calibri"/>
              </a:rPr>
              <a:t>Storytelling Phase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Text 16"/>
          <p:cNvSpPr/>
          <p:nvPr/>
        </p:nvSpPr>
        <p:spPr>
          <a:xfrm>
            <a:off x="2597040" y="2423160"/>
            <a:ext cx="1699920" cy="146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8090a8"/>
                </a:solidFill>
                <a:latin typeface="Calibri"/>
                <a:ea typeface="Calibri"/>
              </a:rPr>
              <a:t>6-chapter narrative · Quality flags · Business questions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" name="Text 17"/>
          <p:cNvSpPr/>
          <p:nvPr/>
        </p:nvSpPr>
        <p:spPr>
          <a:xfrm>
            <a:off x="4407480" y="2011680"/>
            <a:ext cx="20052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2e6cb8"/>
                </a:solidFill>
                <a:latin typeface="Calibri"/>
                <a:ea typeface="Calibri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Shape 18"/>
          <p:cNvSpPr/>
          <p:nvPr/>
        </p:nvSpPr>
        <p:spPr>
          <a:xfrm>
            <a:off x="4608720" y="822960"/>
            <a:ext cx="1919520" cy="347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f0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Shape 19"/>
          <p:cNvSpPr/>
          <p:nvPr/>
        </p:nvSpPr>
        <p:spPr>
          <a:xfrm>
            <a:off x="4608720" y="822960"/>
            <a:ext cx="1919520" cy="72360"/>
          </a:xfrm>
          <a:prstGeom prst="rect">
            <a:avLst/>
          </a:prstGeom>
          <a:solidFill>
            <a:srgbClr val="00aeef"/>
          </a:solidFill>
          <a:ln w="12700">
            <a:solidFill>
              <a:srgbClr val="00ae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" name="Text 20"/>
          <p:cNvSpPr/>
          <p:nvPr/>
        </p:nvSpPr>
        <p:spPr>
          <a:xfrm>
            <a:off x="4608720" y="868680"/>
            <a:ext cx="191952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600" spc="-1" strike="noStrike">
                <a:solidFill>
                  <a:srgbClr val="00aeef"/>
                </a:solidFill>
                <a:latin typeface="Calibri Black"/>
                <a:ea typeface="Calibri Black"/>
              </a:rPr>
              <a:t>03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Text 21"/>
          <p:cNvSpPr/>
          <p:nvPr/>
        </p:nvSpPr>
        <p:spPr>
          <a:xfrm>
            <a:off x="4700160" y="1554480"/>
            <a:ext cx="173664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1a2a3a"/>
                </a:solidFill>
                <a:latin typeface="Calibri"/>
                <a:ea typeface="Calibri"/>
              </a:rPr>
              <a:t>Python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Text 22"/>
          <p:cNvSpPr/>
          <p:nvPr/>
        </p:nvSpPr>
        <p:spPr>
          <a:xfrm>
            <a:off x="4700160" y="1993320"/>
            <a:ext cx="173664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aeef"/>
                </a:solidFill>
                <a:latin typeface="Calibri"/>
                <a:ea typeface="Calibri"/>
              </a:rPr>
              <a:t>Cleaning Phase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Text 23"/>
          <p:cNvSpPr/>
          <p:nvPr/>
        </p:nvSpPr>
        <p:spPr>
          <a:xfrm>
            <a:off x="4718160" y="2423160"/>
            <a:ext cx="1699920" cy="146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8090a8"/>
                </a:solidFill>
                <a:latin typeface="Calibri"/>
                <a:ea typeface="Calibri"/>
              </a:rPr>
              <a:t>Normalization · Feature engineering · Export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Text 24"/>
          <p:cNvSpPr/>
          <p:nvPr/>
        </p:nvSpPr>
        <p:spPr>
          <a:xfrm>
            <a:off x="6528960" y="2011680"/>
            <a:ext cx="20052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2e6cb8"/>
                </a:solidFill>
                <a:latin typeface="Calibri"/>
                <a:ea typeface="Calibri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Shape 25"/>
          <p:cNvSpPr/>
          <p:nvPr/>
        </p:nvSpPr>
        <p:spPr>
          <a:xfrm>
            <a:off x="6729840" y="822960"/>
            <a:ext cx="1919520" cy="347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f0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Shape 26"/>
          <p:cNvSpPr/>
          <p:nvPr/>
        </p:nvSpPr>
        <p:spPr>
          <a:xfrm>
            <a:off x="6729840" y="822960"/>
            <a:ext cx="1919520" cy="72360"/>
          </a:xfrm>
          <a:prstGeom prst="rect">
            <a:avLst/>
          </a:prstGeom>
          <a:solidFill>
            <a:srgbClr val="00c49a"/>
          </a:solidFill>
          <a:ln w="12700">
            <a:solidFill>
              <a:srgbClr val="00c4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" name="Text 27"/>
          <p:cNvSpPr/>
          <p:nvPr/>
        </p:nvSpPr>
        <p:spPr>
          <a:xfrm>
            <a:off x="6729840" y="868680"/>
            <a:ext cx="191952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600" spc="-1" strike="noStrike">
                <a:solidFill>
                  <a:srgbClr val="00c49a"/>
                </a:solidFill>
                <a:latin typeface="Calibri Black"/>
                <a:ea typeface="Calibri Black"/>
              </a:rPr>
              <a:t>04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Text 28"/>
          <p:cNvSpPr/>
          <p:nvPr/>
        </p:nvSpPr>
        <p:spPr>
          <a:xfrm>
            <a:off x="6821280" y="1554480"/>
            <a:ext cx="173664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1a2a3a"/>
                </a:solidFill>
                <a:latin typeface="Calibri"/>
                <a:ea typeface="Calibri"/>
              </a:rPr>
              <a:t>Power BI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Text 29"/>
          <p:cNvSpPr/>
          <p:nvPr/>
        </p:nvSpPr>
        <p:spPr>
          <a:xfrm>
            <a:off x="6821280" y="1993320"/>
            <a:ext cx="173664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c49a"/>
                </a:solidFill>
                <a:latin typeface="Calibri"/>
                <a:ea typeface="Calibri"/>
              </a:rPr>
              <a:t>Dashboard Phase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Text 30"/>
          <p:cNvSpPr/>
          <p:nvPr/>
        </p:nvSpPr>
        <p:spPr>
          <a:xfrm>
            <a:off x="6839640" y="2423160"/>
            <a:ext cx="1699920" cy="146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8090a8"/>
                </a:solidFill>
                <a:latin typeface="Calibri"/>
                <a:ea typeface="Calibri"/>
              </a:rPr>
              <a:t>6-page interactive dashboard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Text 31"/>
          <p:cNvSpPr/>
          <p:nvPr/>
        </p:nvSpPr>
        <p:spPr>
          <a:xfrm>
            <a:off x="365760" y="4480560"/>
            <a:ext cx="84117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8090a8"/>
                </a:solidFill>
                <a:latin typeface="Calibri"/>
                <a:ea typeface="Calibri"/>
              </a:rPr>
              <a:t>Total Records Processed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Text 32"/>
          <p:cNvSpPr/>
          <p:nvPr/>
        </p:nvSpPr>
        <p:spPr>
          <a:xfrm>
            <a:off x="274320" y="4663440"/>
            <a:ext cx="15537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2e6cb8"/>
                </a:solidFill>
                <a:latin typeface="Calibri"/>
                <a:ea typeface="Calibri"/>
              </a:rPr>
              <a:t>12,156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Text 33"/>
          <p:cNvSpPr/>
          <p:nvPr/>
        </p:nvSpPr>
        <p:spPr>
          <a:xfrm>
            <a:off x="274320" y="4873680"/>
            <a:ext cx="155376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8090a8"/>
                </a:solidFill>
                <a:latin typeface="Calibri"/>
                <a:ea typeface="Calibri"/>
              </a:rPr>
              <a:t>Students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Text 34"/>
          <p:cNvSpPr/>
          <p:nvPr/>
        </p:nvSpPr>
        <p:spPr>
          <a:xfrm>
            <a:off x="2011680" y="4663440"/>
            <a:ext cx="15537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2e6cb8"/>
                </a:solidFill>
                <a:latin typeface="Calibri"/>
                <a:ea typeface="Calibri"/>
              </a:rPr>
              <a:t>364,680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Text 35"/>
          <p:cNvSpPr/>
          <p:nvPr/>
        </p:nvSpPr>
        <p:spPr>
          <a:xfrm>
            <a:off x="2011680" y="4873680"/>
            <a:ext cx="155376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8090a8"/>
                </a:solidFill>
                <a:latin typeface="Calibri"/>
                <a:ea typeface="Calibri"/>
              </a:rPr>
              <a:t>Attendance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Text 36"/>
          <p:cNvSpPr/>
          <p:nvPr/>
        </p:nvSpPr>
        <p:spPr>
          <a:xfrm>
            <a:off x="3749040" y="4683960"/>
            <a:ext cx="15537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2e6cb8"/>
                </a:solidFill>
                <a:latin typeface="Calibri"/>
                <a:ea typeface="Calibri"/>
              </a:rPr>
              <a:t>60,780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Text 37"/>
          <p:cNvSpPr/>
          <p:nvPr/>
        </p:nvSpPr>
        <p:spPr>
          <a:xfrm>
            <a:off x="3749040" y="4864680"/>
            <a:ext cx="155376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8090a8"/>
                </a:solidFill>
                <a:latin typeface="Calibri"/>
                <a:ea typeface="Calibri"/>
              </a:rPr>
              <a:t>Homework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Text 38"/>
          <p:cNvSpPr/>
          <p:nvPr/>
        </p:nvSpPr>
        <p:spPr>
          <a:xfrm>
            <a:off x="5486400" y="4663440"/>
            <a:ext cx="15537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2e6cb8"/>
                </a:solidFill>
                <a:latin typeface="Calibri"/>
                <a:ea typeface="Calibri"/>
              </a:rPr>
              <a:t>36,468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Text 39"/>
          <p:cNvSpPr/>
          <p:nvPr/>
        </p:nvSpPr>
        <p:spPr>
          <a:xfrm>
            <a:off x="5486400" y="4873680"/>
            <a:ext cx="155376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8090a8"/>
                </a:solidFill>
                <a:latin typeface="Calibri"/>
                <a:ea typeface="Calibri"/>
              </a:rPr>
              <a:t>Performance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Text 40"/>
          <p:cNvSpPr/>
          <p:nvPr/>
        </p:nvSpPr>
        <p:spPr>
          <a:xfrm>
            <a:off x="7223760" y="4663440"/>
            <a:ext cx="15537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2e6cb8"/>
                </a:solidFill>
                <a:latin typeface="Calibri"/>
                <a:ea typeface="Calibri"/>
              </a:rPr>
              <a:t>24,312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Text 41"/>
          <p:cNvSpPr/>
          <p:nvPr/>
        </p:nvSpPr>
        <p:spPr>
          <a:xfrm>
            <a:off x="7223760" y="4873680"/>
            <a:ext cx="155376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8090a8"/>
                </a:solidFill>
                <a:latin typeface="Calibri"/>
                <a:ea typeface="Calibri"/>
              </a:rPr>
              <a:t>Communication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Shape 0"/>
          <p:cNvSpPr/>
          <p:nvPr/>
        </p:nvSpPr>
        <p:spPr>
          <a:xfrm>
            <a:off x="0" y="0"/>
            <a:ext cx="9143280" cy="65772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" name="Text 1"/>
          <p:cNvSpPr/>
          <p:nvPr/>
        </p:nvSpPr>
        <p:spPr>
          <a:xfrm>
            <a:off x="365760" y="0"/>
            <a:ext cx="685728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libri"/>
                <a:ea typeface="Calibri"/>
              </a:rPr>
              <a:t>Executive Summary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Text 2"/>
          <p:cNvSpPr/>
          <p:nvPr/>
        </p:nvSpPr>
        <p:spPr>
          <a:xfrm>
            <a:off x="0" y="0"/>
            <a:ext cx="877752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0aeef"/>
                </a:solidFill>
                <a:latin typeface="Calibri"/>
                <a:ea typeface="Calibri"/>
              </a:rPr>
              <a:t>School health at a glance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Text 3"/>
          <p:cNvSpPr/>
          <p:nvPr/>
        </p:nvSpPr>
        <p:spPr>
          <a:xfrm>
            <a:off x="0" y="4864680"/>
            <a:ext cx="91432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8090a8"/>
                </a:solidFill>
                <a:latin typeface="Calibri"/>
                <a:ea typeface="Calibri"/>
              </a:rPr>
              <a:t>NTI Academic Success &amp; Intervention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Shape 4"/>
          <p:cNvSpPr/>
          <p:nvPr/>
        </p:nvSpPr>
        <p:spPr>
          <a:xfrm>
            <a:off x="274320" y="777240"/>
            <a:ext cx="1599480" cy="1233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Shape 5"/>
          <p:cNvSpPr/>
          <p:nvPr/>
        </p:nvSpPr>
        <p:spPr>
          <a:xfrm>
            <a:off x="274320" y="777240"/>
            <a:ext cx="1599480" cy="54000"/>
          </a:xfrm>
          <a:prstGeom prst="rect">
            <a:avLst/>
          </a:prstGeom>
          <a:solidFill>
            <a:srgbClr val="2e6cb8"/>
          </a:solidFill>
          <a:ln w="12700">
            <a:solidFill>
              <a:srgbClr val="2e6cb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" name="Text 6"/>
          <p:cNvSpPr/>
          <p:nvPr/>
        </p:nvSpPr>
        <p:spPr>
          <a:xfrm>
            <a:off x="274320" y="887040"/>
            <a:ext cx="1599480" cy="67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rgbClr val="2e6cb8"/>
                </a:solidFill>
                <a:latin typeface="Calibri"/>
                <a:ea typeface="Calibri"/>
              </a:rPr>
              <a:t>12.156K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Text 7"/>
          <p:cNvSpPr/>
          <p:nvPr/>
        </p:nvSpPr>
        <p:spPr>
          <a:xfrm>
            <a:off x="365760" y="1542600"/>
            <a:ext cx="1416600" cy="43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8090a8"/>
                </a:solidFill>
                <a:latin typeface="Calibri"/>
                <a:ea typeface="Calibri"/>
              </a:rPr>
              <a:t>Total Enrollment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Shape 8"/>
          <p:cNvSpPr/>
          <p:nvPr/>
        </p:nvSpPr>
        <p:spPr>
          <a:xfrm>
            <a:off x="2011680" y="777240"/>
            <a:ext cx="1599480" cy="1233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Shape 9"/>
          <p:cNvSpPr/>
          <p:nvPr/>
        </p:nvSpPr>
        <p:spPr>
          <a:xfrm>
            <a:off x="2011680" y="777240"/>
            <a:ext cx="1599480" cy="54000"/>
          </a:xfrm>
          <a:prstGeom prst="rect">
            <a:avLst/>
          </a:prstGeom>
          <a:solidFill>
            <a:srgbClr val="00c49a"/>
          </a:solidFill>
          <a:ln w="12700">
            <a:solidFill>
              <a:srgbClr val="00c4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" name="Text 10"/>
          <p:cNvSpPr/>
          <p:nvPr/>
        </p:nvSpPr>
        <p:spPr>
          <a:xfrm>
            <a:off x="2011680" y="887040"/>
            <a:ext cx="1599480" cy="67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rgbClr val="00c49a"/>
                </a:solidFill>
                <a:latin typeface="Calibri"/>
                <a:ea typeface="Calibri"/>
              </a:rPr>
              <a:t>74.96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Text 11"/>
          <p:cNvSpPr/>
          <p:nvPr/>
        </p:nvSpPr>
        <p:spPr>
          <a:xfrm>
            <a:off x="2103120" y="1542600"/>
            <a:ext cx="1416600" cy="43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8090a8"/>
                </a:solidFill>
                <a:latin typeface="Calibri"/>
                <a:ea typeface="Calibri"/>
              </a:rPr>
              <a:t>Avg Academic Score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Shape 12"/>
          <p:cNvSpPr/>
          <p:nvPr/>
        </p:nvSpPr>
        <p:spPr>
          <a:xfrm>
            <a:off x="3749040" y="777240"/>
            <a:ext cx="1599480" cy="1233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Shape 13"/>
          <p:cNvSpPr/>
          <p:nvPr/>
        </p:nvSpPr>
        <p:spPr>
          <a:xfrm>
            <a:off x="3749040" y="777240"/>
            <a:ext cx="1599480" cy="54000"/>
          </a:xfrm>
          <a:prstGeom prst="rect">
            <a:avLst/>
          </a:prstGeom>
          <a:solidFill>
            <a:srgbClr val="e05c2a"/>
          </a:solidFill>
          <a:ln w="12700">
            <a:solidFill>
              <a:srgbClr val="e05c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" name="Text 14"/>
          <p:cNvSpPr/>
          <p:nvPr/>
        </p:nvSpPr>
        <p:spPr>
          <a:xfrm>
            <a:off x="3749040" y="887040"/>
            <a:ext cx="1599480" cy="67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rgbClr val="e05c2a"/>
                </a:solidFill>
                <a:latin typeface="Calibri"/>
                <a:ea typeface="Calibri"/>
              </a:rPr>
              <a:t>~2K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Text 15"/>
          <p:cNvSpPr/>
          <p:nvPr/>
        </p:nvSpPr>
        <p:spPr>
          <a:xfrm>
            <a:off x="3840480" y="1542600"/>
            <a:ext cx="1416600" cy="43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8090a8"/>
                </a:solidFill>
                <a:latin typeface="Calibri"/>
                <a:ea typeface="Calibri"/>
              </a:rPr>
              <a:t>At-Risk Students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Shape 16"/>
          <p:cNvSpPr/>
          <p:nvPr/>
        </p:nvSpPr>
        <p:spPr>
          <a:xfrm>
            <a:off x="5486400" y="777240"/>
            <a:ext cx="1599480" cy="1233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Shape 17"/>
          <p:cNvSpPr/>
          <p:nvPr/>
        </p:nvSpPr>
        <p:spPr>
          <a:xfrm>
            <a:off x="5486400" y="777240"/>
            <a:ext cx="1599480" cy="5400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" name="Text 18"/>
          <p:cNvSpPr/>
          <p:nvPr/>
        </p:nvSpPr>
        <p:spPr>
          <a:xfrm>
            <a:off x="5486400" y="887040"/>
            <a:ext cx="1599480" cy="67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rgbClr val="8b5cf6"/>
                </a:solidFill>
                <a:latin typeface="Calibri"/>
                <a:ea typeface="Calibri"/>
              </a:rPr>
              <a:t>25.12%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Text 19"/>
          <p:cNvSpPr/>
          <p:nvPr/>
        </p:nvSpPr>
        <p:spPr>
          <a:xfrm>
            <a:off x="5577840" y="1542600"/>
            <a:ext cx="1416600" cy="43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8090a8"/>
                </a:solidFill>
                <a:latin typeface="Calibri"/>
                <a:ea typeface="Calibri"/>
              </a:rPr>
              <a:t>Attendance Rate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Shape 20"/>
          <p:cNvSpPr/>
          <p:nvPr/>
        </p:nvSpPr>
        <p:spPr>
          <a:xfrm>
            <a:off x="7223760" y="777240"/>
            <a:ext cx="1599480" cy="1233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Shape 21"/>
          <p:cNvSpPr/>
          <p:nvPr/>
        </p:nvSpPr>
        <p:spPr>
          <a:xfrm>
            <a:off x="7223760" y="777240"/>
            <a:ext cx="1599480" cy="54000"/>
          </a:xfrm>
          <a:prstGeom prst="rect">
            <a:avLst/>
          </a:prstGeom>
          <a:solidFill>
            <a:srgbClr val="00aeef"/>
          </a:solidFill>
          <a:ln w="12700">
            <a:solidFill>
              <a:srgbClr val="00ae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" name="Text 22"/>
          <p:cNvSpPr/>
          <p:nvPr/>
        </p:nvSpPr>
        <p:spPr>
          <a:xfrm>
            <a:off x="7223760" y="887040"/>
            <a:ext cx="1599480" cy="67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rgbClr val="00aeef"/>
                </a:solidFill>
                <a:latin typeface="Calibri"/>
                <a:ea typeface="Calibri"/>
              </a:rPr>
              <a:t>49.99%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Text 23"/>
          <p:cNvSpPr/>
          <p:nvPr/>
        </p:nvSpPr>
        <p:spPr>
          <a:xfrm>
            <a:off x="7315200" y="1542600"/>
            <a:ext cx="1416600" cy="43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8090a8"/>
                </a:solidFill>
                <a:latin typeface="Calibri"/>
                <a:ea typeface="Calibri"/>
              </a:rPr>
              <a:t>HW Completion Rate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90" name="Chart 0"/>
          <p:cNvGraphicFramePr/>
          <p:nvPr/>
        </p:nvGraphicFramePr>
        <p:xfrm>
          <a:off x="274320" y="2148840"/>
          <a:ext cx="4114080" cy="2559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graphicFrame>
        <p:nvGraphicFramePr>
          <p:cNvPr id="91" name="Chart 1"/>
          <p:cNvGraphicFramePr/>
          <p:nvPr/>
        </p:nvGraphicFramePr>
        <p:xfrm>
          <a:off x="4572000" y="2148840"/>
          <a:ext cx="4296960" cy="2559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Shape 0"/>
          <p:cNvSpPr/>
          <p:nvPr/>
        </p:nvSpPr>
        <p:spPr>
          <a:xfrm>
            <a:off x="0" y="0"/>
            <a:ext cx="9143280" cy="65772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" name="Text 1"/>
          <p:cNvSpPr/>
          <p:nvPr/>
        </p:nvSpPr>
        <p:spPr>
          <a:xfrm>
            <a:off x="365760" y="0"/>
            <a:ext cx="685728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libri"/>
                <a:ea typeface="Calibri"/>
              </a:rPr>
              <a:t>Attendance Analysis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Text 2"/>
          <p:cNvSpPr/>
          <p:nvPr/>
        </p:nvSpPr>
        <p:spPr>
          <a:xfrm>
            <a:off x="0" y="0"/>
            <a:ext cx="877752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0aeef"/>
                </a:solidFill>
                <a:latin typeface="Calibri"/>
                <a:ea typeface="Calibri"/>
              </a:rPr>
              <a:t>Who is showing up, and when?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Text 3"/>
          <p:cNvSpPr/>
          <p:nvPr/>
        </p:nvSpPr>
        <p:spPr>
          <a:xfrm>
            <a:off x="0" y="4864680"/>
            <a:ext cx="91432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8090a8"/>
                </a:solidFill>
                <a:latin typeface="Calibri"/>
                <a:ea typeface="Calibri"/>
              </a:rPr>
              <a:t>NTI Academic Success &amp; Intervention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96" name="Chart 0"/>
          <p:cNvGraphicFramePr/>
          <p:nvPr/>
        </p:nvGraphicFramePr>
        <p:xfrm>
          <a:off x="274320" y="777240"/>
          <a:ext cx="4114080" cy="2559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graphicFrame>
        <p:nvGraphicFramePr>
          <p:cNvPr id="97" name="Chart 1"/>
          <p:cNvGraphicFramePr/>
          <p:nvPr/>
        </p:nvGraphicFramePr>
        <p:xfrm>
          <a:off x="4572000" y="777240"/>
          <a:ext cx="4296960" cy="2559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8" name="Shape 4"/>
          <p:cNvSpPr/>
          <p:nvPr/>
        </p:nvSpPr>
        <p:spPr>
          <a:xfrm>
            <a:off x="274320" y="3474720"/>
            <a:ext cx="8594640" cy="132516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" name="Text 5"/>
          <p:cNvSpPr/>
          <p:nvPr/>
        </p:nvSpPr>
        <p:spPr>
          <a:xfrm>
            <a:off x="502920" y="3547800"/>
            <a:ext cx="18280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0aeef"/>
                </a:solidFill>
                <a:latin typeface="Calibri"/>
                <a:ea typeface="Calibri"/>
              </a:rPr>
              <a:t>Key Finding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Text 6"/>
          <p:cNvSpPr/>
          <p:nvPr/>
        </p:nvSpPr>
        <p:spPr>
          <a:xfrm>
            <a:off x="502920" y="3858840"/>
            <a:ext cx="8320320" cy="82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00aeef"/>
                </a:solidFill>
                <a:latin typeface="Calibri"/>
                <a:ea typeface="Calibri"/>
              </a:rPr>
              <a:t>Only 25.12%</a:t>
            </a:r>
            <a:r>
              <a:rPr b="0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 of all records are marked Present — students are fully present in just 1 in 4 sessions. Late arrivals (24.96%) are as frequent as absences (~25%). </a:t>
            </a: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Absence is general, not subject-specific.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hape 0"/>
          <p:cNvSpPr/>
          <p:nvPr/>
        </p:nvSpPr>
        <p:spPr>
          <a:xfrm>
            <a:off x="0" y="0"/>
            <a:ext cx="9143280" cy="65772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" name="Text 1"/>
          <p:cNvSpPr/>
          <p:nvPr/>
        </p:nvSpPr>
        <p:spPr>
          <a:xfrm>
            <a:off x="365760" y="0"/>
            <a:ext cx="685728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libri"/>
                <a:ea typeface="Calibri"/>
              </a:rPr>
              <a:t>Homework &amp; Engagement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Text 2"/>
          <p:cNvSpPr/>
          <p:nvPr/>
        </p:nvSpPr>
        <p:spPr>
          <a:xfrm>
            <a:off x="0" y="0"/>
            <a:ext cx="877752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0aeef"/>
                </a:solidFill>
                <a:latin typeface="Calibri"/>
                <a:ea typeface="Calibri"/>
              </a:rPr>
              <a:t>Are students doing the work?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Text 3"/>
          <p:cNvSpPr/>
          <p:nvPr/>
        </p:nvSpPr>
        <p:spPr>
          <a:xfrm>
            <a:off x="0" y="4864680"/>
            <a:ext cx="91432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8090a8"/>
                </a:solidFill>
                <a:latin typeface="Calibri"/>
                <a:ea typeface="Calibri"/>
              </a:rPr>
              <a:t>NTI Academic Success &amp; Intervention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105" name="Chart 0"/>
          <p:cNvGraphicFramePr/>
          <p:nvPr/>
        </p:nvGraphicFramePr>
        <p:xfrm>
          <a:off x="274320" y="777240"/>
          <a:ext cx="4114080" cy="2559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graphicFrame>
        <p:nvGraphicFramePr>
          <p:cNvPr id="106" name="Chart 1"/>
          <p:cNvGraphicFramePr/>
          <p:nvPr/>
        </p:nvGraphicFramePr>
        <p:xfrm>
          <a:off x="4572000" y="777240"/>
          <a:ext cx="4296960" cy="2559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07" name="Shape 4"/>
          <p:cNvSpPr/>
          <p:nvPr/>
        </p:nvSpPr>
        <p:spPr>
          <a:xfrm>
            <a:off x="274320" y="3474720"/>
            <a:ext cx="8594640" cy="132516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" name="Text 5"/>
          <p:cNvSpPr/>
          <p:nvPr/>
        </p:nvSpPr>
        <p:spPr>
          <a:xfrm>
            <a:off x="502920" y="3547800"/>
            <a:ext cx="18280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0aeef"/>
                </a:solidFill>
                <a:latin typeface="Calibri"/>
                <a:ea typeface="Calibri"/>
              </a:rPr>
              <a:t>Key Finding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Text 6"/>
          <p:cNvSpPr/>
          <p:nvPr/>
        </p:nvSpPr>
        <p:spPr>
          <a:xfrm>
            <a:off x="502920" y="3858840"/>
            <a:ext cx="8320320" cy="82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00aeef"/>
                </a:solidFill>
                <a:latin typeface="Calibri"/>
                <a:ea typeface="Calibri"/>
              </a:rPr>
              <a:t>1 in 3 assignments is never completed.</a:t>
            </a:r>
            <a:r>
              <a:rPr b="0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 Science has the lowest completion rate. Guardian-signed assignments show marginally higher completion — suggesting parental involvement has some effect but is not the primary driver of engagement.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Shape 0"/>
          <p:cNvSpPr/>
          <p:nvPr/>
        </p:nvSpPr>
        <p:spPr>
          <a:xfrm>
            <a:off x="0" y="0"/>
            <a:ext cx="9143280" cy="65772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" name="Text 1"/>
          <p:cNvSpPr/>
          <p:nvPr/>
        </p:nvSpPr>
        <p:spPr>
          <a:xfrm>
            <a:off x="365760" y="0"/>
            <a:ext cx="685728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libri"/>
                <a:ea typeface="Calibri"/>
              </a:rPr>
              <a:t>Academic Performance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Text 2"/>
          <p:cNvSpPr/>
          <p:nvPr/>
        </p:nvSpPr>
        <p:spPr>
          <a:xfrm>
            <a:off x="0" y="0"/>
            <a:ext cx="877752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0aeef"/>
                </a:solidFill>
                <a:latin typeface="Calibri"/>
                <a:ea typeface="Calibri"/>
              </a:rPr>
              <a:t>How are students scoring?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Text 3"/>
          <p:cNvSpPr/>
          <p:nvPr/>
        </p:nvSpPr>
        <p:spPr>
          <a:xfrm>
            <a:off x="0" y="4864680"/>
            <a:ext cx="91432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8090a8"/>
                </a:solidFill>
                <a:latin typeface="Calibri"/>
                <a:ea typeface="Calibri"/>
              </a:rPr>
              <a:t>NTI Academic Success &amp; Intervention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Shape 4"/>
          <p:cNvSpPr/>
          <p:nvPr/>
        </p:nvSpPr>
        <p:spPr>
          <a:xfrm>
            <a:off x="274320" y="777240"/>
            <a:ext cx="1965240" cy="1096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Shape 5"/>
          <p:cNvSpPr/>
          <p:nvPr/>
        </p:nvSpPr>
        <p:spPr>
          <a:xfrm>
            <a:off x="274320" y="777240"/>
            <a:ext cx="1965240" cy="54000"/>
          </a:xfrm>
          <a:prstGeom prst="rect">
            <a:avLst/>
          </a:prstGeom>
          <a:solidFill>
            <a:srgbClr val="2e6cb8"/>
          </a:solidFill>
          <a:ln w="12700">
            <a:solidFill>
              <a:srgbClr val="2e6cb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" name="Text 6"/>
          <p:cNvSpPr/>
          <p:nvPr/>
        </p:nvSpPr>
        <p:spPr>
          <a:xfrm>
            <a:off x="274320" y="887040"/>
            <a:ext cx="1965240" cy="60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rgbClr val="2e6cb8"/>
                </a:solidFill>
                <a:latin typeface="Calibri"/>
                <a:ea typeface="Calibri"/>
              </a:rPr>
              <a:t>74.96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Text 7"/>
          <p:cNvSpPr/>
          <p:nvPr/>
        </p:nvSpPr>
        <p:spPr>
          <a:xfrm>
            <a:off x="365760" y="1457640"/>
            <a:ext cx="178236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8090a8"/>
                </a:solidFill>
                <a:latin typeface="Calibri"/>
                <a:ea typeface="Calibri"/>
              </a:rPr>
              <a:t>School Avg Score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Shape 8"/>
          <p:cNvSpPr/>
          <p:nvPr/>
        </p:nvSpPr>
        <p:spPr>
          <a:xfrm>
            <a:off x="2377440" y="777240"/>
            <a:ext cx="1965240" cy="1096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Shape 9"/>
          <p:cNvSpPr/>
          <p:nvPr/>
        </p:nvSpPr>
        <p:spPr>
          <a:xfrm>
            <a:off x="2377440" y="777240"/>
            <a:ext cx="1965240" cy="54000"/>
          </a:xfrm>
          <a:prstGeom prst="rect">
            <a:avLst/>
          </a:prstGeom>
          <a:solidFill>
            <a:srgbClr val="00aeef"/>
          </a:solidFill>
          <a:ln w="12700">
            <a:solidFill>
              <a:srgbClr val="00ae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0" name="Text 10"/>
          <p:cNvSpPr/>
          <p:nvPr/>
        </p:nvSpPr>
        <p:spPr>
          <a:xfrm>
            <a:off x="2377440" y="887040"/>
            <a:ext cx="1965240" cy="60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rgbClr val="00aeef"/>
                </a:solidFill>
                <a:latin typeface="Calibri"/>
                <a:ea typeface="Calibri"/>
              </a:rPr>
              <a:t>40 – 110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Text 11"/>
          <p:cNvSpPr/>
          <p:nvPr/>
        </p:nvSpPr>
        <p:spPr>
          <a:xfrm>
            <a:off x="2468880" y="1457640"/>
            <a:ext cx="178236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8090a8"/>
                </a:solidFill>
                <a:latin typeface="Calibri"/>
                <a:ea typeface="Calibri"/>
              </a:rPr>
              <a:t>Score Range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Shape 12"/>
          <p:cNvSpPr/>
          <p:nvPr/>
        </p:nvSpPr>
        <p:spPr>
          <a:xfrm>
            <a:off x="4480560" y="777240"/>
            <a:ext cx="1965240" cy="1096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Shape 13"/>
          <p:cNvSpPr/>
          <p:nvPr/>
        </p:nvSpPr>
        <p:spPr>
          <a:xfrm>
            <a:off x="4480560" y="777240"/>
            <a:ext cx="1965240" cy="54000"/>
          </a:xfrm>
          <a:prstGeom prst="rect">
            <a:avLst/>
          </a:prstGeom>
          <a:solidFill>
            <a:srgbClr val="00c49a"/>
          </a:solidFill>
          <a:ln w="12700">
            <a:solidFill>
              <a:srgbClr val="00c4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4" name="Text 14"/>
          <p:cNvSpPr/>
          <p:nvPr/>
        </p:nvSpPr>
        <p:spPr>
          <a:xfrm>
            <a:off x="4480560" y="887040"/>
            <a:ext cx="1965240" cy="60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rgbClr val="00c49a"/>
                </a:solidFill>
                <a:latin typeface="Calibri"/>
                <a:ea typeface="Calibri"/>
              </a:rPr>
              <a:t>12.87%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Text 15"/>
          <p:cNvSpPr/>
          <p:nvPr/>
        </p:nvSpPr>
        <p:spPr>
          <a:xfrm>
            <a:off x="4572000" y="1457640"/>
            <a:ext cx="178236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8090a8"/>
                </a:solidFill>
                <a:latin typeface="Calibri"/>
                <a:ea typeface="Calibri"/>
              </a:rPr>
              <a:t>High Achievers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Shape 16"/>
          <p:cNvSpPr/>
          <p:nvPr/>
        </p:nvSpPr>
        <p:spPr>
          <a:xfrm>
            <a:off x="6583680" y="777240"/>
            <a:ext cx="1965240" cy="1096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Shape 17"/>
          <p:cNvSpPr/>
          <p:nvPr/>
        </p:nvSpPr>
        <p:spPr>
          <a:xfrm>
            <a:off x="6583680" y="777240"/>
            <a:ext cx="1965240" cy="54000"/>
          </a:xfrm>
          <a:prstGeom prst="rect">
            <a:avLst/>
          </a:prstGeom>
          <a:solidFill>
            <a:srgbClr val="e05c2a"/>
          </a:solidFill>
          <a:ln w="12700">
            <a:solidFill>
              <a:srgbClr val="e05c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" name="Text 18"/>
          <p:cNvSpPr/>
          <p:nvPr/>
        </p:nvSpPr>
        <p:spPr>
          <a:xfrm>
            <a:off x="6583680" y="887040"/>
            <a:ext cx="1965240" cy="60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rgbClr val="e05c2a"/>
                </a:solidFill>
                <a:latin typeface="Calibri"/>
                <a:ea typeface="Calibri"/>
              </a:rPr>
              <a:t>12.41%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Text 19"/>
          <p:cNvSpPr/>
          <p:nvPr/>
        </p:nvSpPr>
        <p:spPr>
          <a:xfrm>
            <a:off x="6675120" y="1457640"/>
            <a:ext cx="178236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8090a8"/>
                </a:solidFill>
                <a:latin typeface="Calibri"/>
                <a:ea typeface="Calibri"/>
              </a:rPr>
              <a:t>Failing Rate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130" name="Chart 0"/>
          <p:cNvGraphicFramePr/>
          <p:nvPr/>
        </p:nvGraphicFramePr>
        <p:xfrm>
          <a:off x="274320" y="2011680"/>
          <a:ext cx="4114080" cy="2651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graphicFrame>
        <p:nvGraphicFramePr>
          <p:cNvPr id="131" name="Chart 1"/>
          <p:cNvGraphicFramePr/>
          <p:nvPr/>
        </p:nvGraphicFramePr>
        <p:xfrm>
          <a:off x="4572000" y="2011680"/>
          <a:ext cx="4296960" cy="2651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Shape 0"/>
          <p:cNvSpPr/>
          <p:nvPr/>
        </p:nvSpPr>
        <p:spPr>
          <a:xfrm>
            <a:off x="0" y="0"/>
            <a:ext cx="9143280" cy="65772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3" name="Text 1"/>
          <p:cNvSpPr/>
          <p:nvPr/>
        </p:nvSpPr>
        <p:spPr>
          <a:xfrm>
            <a:off x="365760" y="0"/>
            <a:ext cx="685728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libri"/>
                <a:ea typeface="Calibri"/>
              </a:rPr>
              <a:t>Parent Communication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Text 2"/>
          <p:cNvSpPr/>
          <p:nvPr/>
        </p:nvSpPr>
        <p:spPr>
          <a:xfrm>
            <a:off x="0" y="0"/>
            <a:ext cx="877752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0aeef"/>
                </a:solidFill>
                <a:latin typeface="Calibri"/>
                <a:ea typeface="Calibri"/>
              </a:rPr>
              <a:t>Is the school connected to parents?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Text 3"/>
          <p:cNvSpPr/>
          <p:nvPr/>
        </p:nvSpPr>
        <p:spPr>
          <a:xfrm>
            <a:off x="0" y="4864680"/>
            <a:ext cx="91432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8090a8"/>
                </a:solidFill>
                <a:latin typeface="Calibri"/>
                <a:ea typeface="Calibri"/>
              </a:rPr>
              <a:t>NTI Academic Success &amp; Intervention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Shape 4"/>
          <p:cNvSpPr/>
          <p:nvPr/>
        </p:nvSpPr>
        <p:spPr>
          <a:xfrm>
            <a:off x="274320" y="777240"/>
            <a:ext cx="2651040" cy="1096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Shape 5"/>
          <p:cNvSpPr/>
          <p:nvPr/>
        </p:nvSpPr>
        <p:spPr>
          <a:xfrm>
            <a:off x="274320" y="777240"/>
            <a:ext cx="2651040" cy="54000"/>
          </a:xfrm>
          <a:prstGeom prst="rect">
            <a:avLst/>
          </a:prstGeom>
          <a:solidFill>
            <a:srgbClr val="2e6cb8"/>
          </a:solidFill>
          <a:ln w="12700">
            <a:solidFill>
              <a:srgbClr val="2e6cb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8" name="Text 6"/>
          <p:cNvSpPr/>
          <p:nvPr/>
        </p:nvSpPr>
        <p:spPr>
          <a:xfrm>
            <a:off x="274320" y="887040"/>
            <a:ext cx="2651040" cy="60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rgbClr val="2e6cb8"/>
                </a:solidFill>
                <a:latin typeface="Calibri"/>
                <a:ea typeface="Calibri"/>
              </a:rPr>
              <a:t>24K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Text 7"/>
          <p:cNvSpPr/>
          <p:nvPr/>
        </p:nvSpPr>
        <p:spPr>
          <a:xfrm>
            <a:off x="365760" y="1457640"/>
            <a:ext cx="246816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8090a8"/>
                </a:solidFill>
                <a:latin typeface="Calibri"/>
                <a:ea typeface="Calibri"/>
              </a:rPr>
              <a:t>Total Messages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Shape 8"/>
          <p:cNvSpPr/>
          <p:nvPr/>
        </p:nvSpPr>
        <p:spPr>
          <a:xfrm>
            <a:off x="3108960" y="777240"/>
            <a:ext cx="2651040" cy="1096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Shape 9"/>
          <p:cNvSpPr/>
          <p:nvPr/>
        </p:nvSpPr>
        <p:spPr>
          <a:xfrm>
            <a:off x="3108960" y="777240"/>
            <a:ext cx="2651040" cy="54000"/>
          </a:xfrm>
          <a:prstGeom prst="rect">
            <a:avLst/>
          </a:prstGeom>
          <a:solidFill>
            <a:srgbClr val="e05c2a"/>
          </a:solidFill>
          <a:ln w="12700">
            <a:solidFill>
              <a:srgbClr val="e05c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" name="Text 10"/>
          <p:cNvSpPr/>
          <p:nvPr/>
        </p:nvSpPr>
        <p:spPr>
          <a:xfrm>
            <a:off x="3108960" y="887040"/>
            <a:ext cx="2651040" cy="60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rgbClr val="e05c2a"/>
                </a:solidFill>
                <a:latin typeface="Calibri"/>
                <a:ea typeface="Calibri"/>
              </a:rPr>
              <a:t>1,644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Text 11"/>
          <p:cNvSpPr/>
          <p:nvPr/>
        </p:nvSpPr>
        <p:spPr>
          <a:xfrm>
            <a:off x="3200400" y="1457640"/>
            <a:ext cx="246816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8090a8"/>
                </a:solidFill>
                <a:latin typeface="Calibri"/>
                <a:ea typeface="Calibri"/>
              </a:rPr>
              <a:t>Silent Students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Shape 12"/>
          <p:cNvSpPr/>
          <p:nvPr/>
        </p:nvSpPr>
        <p:spPr>
          <a:xfrm>
            <a:off x="5943600" y="777240"/>
            <a:ext cx="2651040" cy="1096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Shape 13"/>
          <p:cNvSpPr/>
          <p:nvPr/>
        </p:nvSpPr>
        <p:spPr>
          <a:xfrm>
            <a:off x="5943600" y="777240"/>
            <a:ext cx="2651040" cy="5400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6" name="Text 14"/>
          <p:cNvSpPr/>
          <p:nvPr/>
        </p:nvSpPr>
        <p:spPr>
          <a:xfrm>
            <a:off x="5943600" y="887040"/>
            <a:ext cx="2651040" cy="60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rgbClr val="8b5cf6"/>
                </a:solidFill>
                <a:latin typeface="Calibri"/>
                <a:ea typeface="Calibri"/>
              </a:rPr>
              <a:t>13.5%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Text 15"/>
          <p:cNvSpPr/>
          <p:nvPr/>
        </p:nvSpPr>
        <p:spPr>
          <a:xfrm>
            <a:off x="6035040" y="1457640"/>
            <a:ext cx="246816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8090a8"/>
                </a:solidFill>
                <a:latin typeface="Calibri"/>
                <a:ea typeface="Calibri"/>
              </a:rPr>
              <a:t>Communication Gap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148" name="Chart 0"/>
          <p:cNvGraphicFramePr/>
          <p:nvPr/>
        </p:nvGraphicFramePr>
        <p:xfrm>
          <a:off x="274320" y="2011680"/>
          <a:ext cx="4114080" cy="2651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graphicFrame>
        <p:nvGraphicFramePr>
          <p:cNvPr id="149" name="Chart 1"/>
          <p:cNvGraphicFramePr/>
          <p:nvPr/>
        </p:nvGraphicFramePr>
        <p:xfrm>
          <a:off x="4572000" y="2011680"/>
          <a:ext cx="4296960" cy="2651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Shape 0"/>
          <p:cNvSpPr/>
          <p:nvPr/>
        </p:nvSpPr>
        <p:spPr>
          <a:xfrm>
            <a:off x="0" y="0"/>
            <a:ext cx="9143280" cy="65772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1" name="Text 1"/>
          <p:cNvSpPr/>
          <p:nvPr/>
        </p:nvSpPr>
        <p:spPr>
          <a:xfrm>
            <a:off x="365760" y="0"/>
            <a:ext cx="685728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libri"/>
                <a:ea typeface="Calibri"/>
              </a:rPr>
              <a:t>At-Risk Intervention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Text 2"/>
          <p:cNvSpPr/>
          <p:nvPr/>
        </p:nvSpPr>
        <p:spPr>
          <a:xfrm>
            <a:off x="0" y="0"/>
            <a:ext cx="877752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0aeef"/>
                </a:solidFill>
                <a:latin typeface="Calibri"/>
                <a:ea typeface="Calibri"/>
              </a:rPr>
              <a:t>Who needs action before the year ends?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Text 3"/>
          <p:cNvSpPr/>
          <p:nvPr/>
        </p:nvSpPr>
        <p:spPr>
          <a:xfrm>
            <a:off x="0" y="4864680"/>
            <a:ext cx="91432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8090a8"/>
                </a:solidFill>
                <a:latin typeface="Calibri"/>
                <a:ea typeface="Calibri"/>
              </a:rPr>
              <a:t>NTI Academic Success &amp; Intervention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Shape 4"/>
          <p:cNvSpPr/>
          <p:nvPr/>
        </p:nvSpPr>
        <p:spPr>
          <a:xfrm>
            <a:off x="274320" y="777240"/>
            <a:ext cx="1965240" cy="1096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Shape 5"/>
          <p:cNvSpPr/>
          <p:nvPr/>
        </p:nvSpPr>
        <p:spPr>
          <a:xfrm>
            <a:off x="274320" y="777240"/>
            <a:ext cx="1965240" cy="54000"/>
          </a:xfrm>
          <a:prstGeom prst="rect">
            <a:avLst/>
          </a:prstGeom>
          <a:solidFill>
            <a:srgbClr val="e05c2a"/>
          </a:solidFill>
          <a:ln w="12700">
            <a:solidFill>
              <a:srgbClr val="e05c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6" name="Text 6"/>
          <p:cNvSpPr/>
          <p:nvPr/>
        </p:nvSpPr>
        <p:spPr>
          <a:xfrm>
            <a:off x="274320" y="887040"/>
            <a:ext cx="1965240" cy="60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rgbClr val="e05c2a"/>
                </a:solidFill>
                <a:latin typeface="Calibri"/>
                <a:ea typeface="Calibri"/>
              </a:rPr>
              <a:t>~2K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Text 7"/>
          <p:cNvSpPr/>
          <p:nvPr/>
        </p:nvSpPr>
        <p:spPr>
          <a:xfrm>
            <a:off x="365760" y="1457640"/>
            <a:ext cx="178236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8090a8"/>
                </a:solidFill>
                <a:latin typeface="Calibri"/>
                <a:ea typeface="Calibri"/>
              </a:rPr>
              <a:t>At-Risk Students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Shape 8"/>
          <p:cNvSpPr/>
          <p:nvPr/>
        </p:nvSpPr>
        <p:spPr>
          <a:xfrm>
            <a:off x="2377440" y="777240"/>
            <a:ext cx="1965240" cy="1096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Shape 9"/>
          <p:cNvSpPr/>
          <p:nvPr/>
        </p:nvSpPr>
        <p:spPr>
          <a:xfrm>
            <a:off x="2377440" y="777240"/>
            <a:ext cx="1965240" cy="54000"/>
          </a:xfrm>
          <a:prstGeom prst="rect">
            <a:avLst/>
          </a:prstGeom>
          <a:solidFill>
            <a:srgbClr val="e05c2a"/>
          </a:solidFill>
          <a:ln w="12700">
            <a:solidFill>
              <a:srgbClr val="e05c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0" name="Text 10"/>
          <p:cNvSpPr/>
          <p:nvPr/>
        </p:nvSpPr>
        <p:spPr>
          <a:xfrm>
            <a:off x="2377440" y="887040"/>
            <a:ext cx="1965240" cy="60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rgbClr val="e05c2a"/>
                </a:solidFill>
                <a:latin typeface="Calibri"/>
                <a:ea typeface="Calibri"/>
              </a:rPr>
              <a:t>12.41%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Text 11"/>
          <p:cNvSpPr/>
          <p:nvPr/>
        </p:nvSpPr>
        <p:spPr>
          <a:xfrm>
            <a:off x="2468880" y="1457640"/>
            <a:ext cx="178236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8090a8"/>
                </a:solidFill>
                <a:latin typeface="Calibri"/>
                <a:ea typeface="Calibri"/>
              </a:rPr>
              <a:t>% of School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Shape 12"/>
          <p:cNvSpPr/>
          <p:nvPr/>
        </p:nvSpPr>
        <p:spPr>
          <a:xfrm>
            <a:off x="4480560" y="777240"/>
            <a:ext cx="1965240" cy="1096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Shape 13"/>
          <p:cNvSpPr/>
          <p:nvPr/>
        </p:nvSpPr>
        <p:spPr>
          <a:xfrm>
            <a:off x="4480560" y="777240"/>
            <a:ext cx="1965240" cy="54000"/>
          </a:xfrm>
          <a:prstGeom prst="rect">
            <a:avLst/>
          </a:prstGeom>
          <a:solidFill>
            <a:srgbClr val="2e6cb8"/>
          </a:solidFill>
          <a:ln w="12700">
            <a:solidFill>
              <a:srgbClr val="2e6cb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4" name="Text 14"/>
          <p:cNvSpPr/>
          <p:nvPr/>
        </p:nvSpPr>
        <p:spPr>
          <a:xfrm>
            <a:off x="4480560" y="887040"/>
            <a:ext cx="1965240" cy="60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rgbClr val="2e6cb8"/>
                </a:solidFill>
                <a:latin typeface="Calibri"/>
                <a:ea typeface="Calibri"/>
              </a:rPr>
              <a:t>54.06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Text 15"/>
          <p:cNvSpPr/>
          <p:nvPr/>
        </p:nvSpPr>
        <p:spPr>
          <a:xfrm>
            <a:off x="4572000" y="1457640"/>
            <a:ext cx="178236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8090a8"/>
                </a:solidFill>
                <a:latin typeface="Calibri"/>
                <a:ea typeface="Calibri"/>
              </a:rPr>
              <a:t>At-Risk Avg Score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Shape 16"/>
          <p:cNvSpPr/>
          <p:nvPr/>
        </p:nvSpPr>
        <p:spPr>
          <a:xfrm>
            <a:off x="6583680" y="777240"/>
            <a:ext cx="1965240" cy="1096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Shape 17"/>
          <p:cNvSpPr/>
          <p:nvPr/>
        </p:nvSpPr>
        <p:spPr>
          <a:xfrm>
            <a:off x="6583680" y="777240"/>
            <a:ext cx="1965240" cy="5400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" name="Text 18"/>
          <p:cNvSpPr/>
          <p:nvPr/>
        </p:nvSpPr>
        <p:spPr>
          <a:xfrm>
            <a:off x="6583680" y="887040"/>
            <a:ext cx="1965240" cy="60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rgbClr val="8b5cf6"/>
                </a:solidFill>
                <a:latin typeface="Calibri"/>
                <a:ea typeface="Calibri"/>
              </a:rPr>
              <a:t>25.27%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Text 19"/>
          <p:cNvSpPr/>
          <p:nvPr/>
        </p:nvSpPr>
        <p:spPr>
          <a:xfrm>
            <a:off x="6675120" y="1457640"/>
            <a:ext cx="178236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8090a8"/>
                </a:solidFill>
                <a:latin typeface="Calibri"/>
                <a:ea typeface="Calibri"/>
              </a:rPr>
              <a:t>At-Risk Attendance Rate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170" name="Chart 0"/>
          <p:cNvGraphicFramePr/>
          <p:nvPr/>
        </p:nvGraphicFramePr>
        <p:xfrm>
          <a:off x="274320" y="2011680"/>
          <a:ext cx="4114080" cy="1828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171" name="Shape 20"/>
          <p:cNvSpPr/>
          <p:nvPr/>
        </p:nvSpPr>
        <p:spPr>
          <a:xfrm>
            <a:off x="4572000" y="2011680"/>
            <a:ext cx="4296960" cy="1828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f0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Shape 21"/>
          <p:cNvSpPr/>
          <p:nvPr/>
        </p:nvSpPr>
        <p:spPr>
          <a:xfrm>
            <a:off x="4572000" y="2011680"/>
            <a:ext cx="4296960" cy="54000"/>
          </a:xfrm>
          <a:prstGeom prst="rect">
            <a:avLst/>
          </a:prstGeom>
          <a:solidFill>
            <a:srgbClr val="e05c2a"/>
          </a:solidFill>
          <a:ln w="12700">
            <a:solidFill>
              <a:srgbClr val="e05c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3" name="Text 22"/>
          <p:cNvSpPr/>
          <p:nvPr/>
        </p:nvSpPr>
        <p:spPr>
          <a:xfrm>
            <a:off x="4663440" y="2084760"/>
            <a:ext cx="41140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a2a3a"/>
                </a:solidFill>
                <a:latin typeface="Calibri"/>
                <a:ea typeface="Calibri"/>
              </a:rPr>
              <a:t>At-Risk Flag Criteria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Shape 23"/>
          <p:cNvSpPr/>
          <p:nvPr/>
        </p:nvSpPr>
        <p:spPr>
          <a:xfrm>
            <a:off x="4663440" y="2487240"/>
            <a:ext cx="2468160" cy="328320"/>
          </a:xfrm>
          <a:prstGeom prst="rect">
            <a:avLst/>
          </a:prstGeom>
          <a:solidFill>
            <a:srgbClr val="f4f6fa"/>
          </a:solidFill>
          <a:ln w="12700">
            <a:solidFill>
              <a:srgbClr val="dde6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Text 24"/>
          <p:cNvSpPr/>
          <p:nvPr/>
        </p:nvSpPr>
        <p:spPr>
          <a:xfrm>
            <a:off x="4736520" y="2487240"/>
            <a:ext cx="232200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2a3a"/>
                </a:solidFill>
                <a:latin typeface="Calibri"/>
                <a:ea typeface="Calibri"/>
              </a:rPr>
              <a:t>Attendance Rate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Shape 25"/>
          <p:cNvSpPr/>
          <p:nvPr/>
        </p:nvSpPr>
        <p:spPr>
          <a:xfrm>
            <a:off x="7178040" y="2487240"/>
            <a:ext cx="1599480" cy="328320"/>
          </a:xfrm>
          <a:prstGeom prst="rect">
            <a:avLst/>
          </a:prstGeom>
          <a:solidFill>
            <a:srgbClr val="e05c2a"/>
          </a:solidFill>
          <a:ln w="12700">
            <a:solidFill>
              <a:srgbClr val="e05c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7" name="Text 26"/>
          <p:cNvSpPr/>
          <p:nvPr/>
        </p:nvSpPr>
        <p:spPr>
          <a:xfrm>
            <a:off x="7178040" y="2487240"/>
            <a:ext cx="159948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&lt; 20%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Shape 27"/>
          <p:cNvSpPr/>
          <p:nvPr/>
        </p:nvSpPr>
        <p:spPr>
          <a:xfrm>
            <a:off x="4663440" y="2889360"/>
            <a:ext cx="2468160" cy="328320"/>
          </a:xfrm>
          <a:prstGeom prst="rect">
            <a:avLst/>
          </a:prstGeom>
          <a:solidFill>
            <a:srgbClr val="f4f6fa"/>
          </a:solidFill>
          <a:ln w="12700">
            <a:solidFill>
              <a:srgbClr val="dde6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Text 28"/>
          <p:cNvSpPr/>
          <p:nvPr/>
        </p:nvSpPr>
        <p:spPr>
          <a:xfrm>
            <a:off x="4736520" y="2889360"/>
            <a:ext cx="232200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2a3a"/>
                </a:solidFill>
                <a:latin typeface="Calibri"/>
                <a:ea typeface="Calibri"/>
              </a:rPr>
              <a:t>Avg Exam Score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Shape 29"/>
          <p:cNvSpPr/>
          <p:nvPr/>
        </p:nvSpPr>
        <p:spPr>
          <a:xfrm>
            <a:off x="7178040" y="2889360"/>
            <a:ext cx="1599480" cy="328320"/>
          </a:xfrm>
          <a:prstGeom prst="rect">
            <a:avLst/>
          </a:prstGeom>
          <a:solidFill>
            <a:srgbClr val="e05c2a"/>
          </a:solidFill>
          <a:ln w="12700">
            <a:solidFill>
              <a:srgbClr val="e05c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1" name="Text 30"/>
          <p:cNvSpPr/>
          <p:nvPr/>
        </p:nvSpPr>
        <p:spPr>
          <a:xfrm>
            <a:off x="7178040" y="2889360"/>
            <a:ext cx="159948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&lt; 60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Shape 31"/>
          <p:cNvSpPr/>
          <p:nvPr/>
        </p:nvSpPr>
        <p:spPr>
          <a:xfrm>
            <a:off x="4663440" y="3291840"/>
            <a:ext cx="2468160" cy="328320"/>
          </a:xfrm>
          <a:prstGeom prst="rect">
            <a:avLst/>
          </a:prstGeom>
          <a:solidFill>
            <a:srgbClr val="f4f6fa"/>
          </a:solidFill>
          <a:ln w="12700">
            <a:solidFill>
              <a:srgbClr val="dde6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Text 32"/>
          <p:cNvSpPr/>
          <p:nvPr/>
        </p:nvSpPr>
        <p:spPr>
          <a:xfrm>
            <a:off x="4736520" y="3291840"/>
            <a:ext cx="232200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2a3a"/>
                </a:solidFill>
                <a:latin typeface="Calibri"/>
                <a:ea typeface="Calibri"/>
              </a:rPr>
              <a:t>Missed Assignments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Shape 33"/>
          <p:cNvSpPr/>
          <p:nvPr/>
        </p:nvSpPr>
        <p:spPr>
          <a:xfrm>
            <a:off x="7178040" y="3291840"/>
            <a:ext cx="1599480" cy="328320"/>
          </a:xfrm>
          <a:prstGeom prst="rect">
            <a:avLst/>
          </a:prstGeom>
          <a:solidFill>
            <a:srgbClr val="e05c2a"/>
          </a:solidFill>
          <a:ln w="12700">
            <a:solidFill>
              <a:srgbClr val="e05c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5" name="Text 34"/>
          <p:cNvSpPr/>
          <p:nvPr/>
        </p:nvSpPr>
        <p:spPr>
          <a:xfrm>
            <a:off x="7178040" y="3291840"/>
            <a:ext cx="159948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&gt; 3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Text 35"/>
          <p:cNvSpPr/>
          <p:nvPr/>
        </p:nvSpPr>
        <p:spPr>
          <a:xfrm>
            <a:off x="4663440" y="3712320"/>
            <a:ext cx="41140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8090a8"/>
                </a:solidFill>
                <a:latin typeface="Calibri"/>
                <a:ea typeface="Calibri"/>
              </a:rPr>
              <a:t>All 3 conditions must be true simultaneously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Shape 36"/>
          <p:cNvSpPr/>
          <p:nvPr/>
        </p:nvSpPr>
        <p:spPr>
          <a:xfrm>
            <a:off x="274320" y="3977640"/>
            <a:ext cx="8594640" cy="95940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8" name="Text 37"/>
          <p:cNvSpPr/>
          <p:nvPr/>
        </p:nvSpPr>
        <p:spPr>
          <a:xfrm>
            <a:off x="457200" y="4069080"/>
            <a:ext cx="8320320" cy="7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00aeef"/>
                </a:solidFill>
                <a:latin typeface="Calibri"/>
                <a:ea typeface="Calibri"/>
              </a:rPr>
              <a:t>Most at-risk students have parent communication records.</a:t>
            </a:r>
            <a:r>
              <a:rPr b="0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 Communication is happening but not translating into improvement. The intervention strategy needs to change — not just its frequency.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Shape 0"/>
          <p:cNvSpPr/>
          <p:nvPr/>
        </p:nvSpPr>
        <p:spPr>
          <a:xfrm>
            <a:off x="0" y="0"/>
            <a:ext cx="9143280" cy="65772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0" name="Text 1"/>
          <p:cNvSpPr/>
          <p:nvPr/>
        </p:nvSpPr>
        <p:spPr>
          <a:xfrm>
            <a:off x="365760" y="0"/>
            <a:ext cx="685728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libri"/>
                <a:ea typeface="Calibri"/>
              </a:rPr>
              <a:t>Data Quality Issues &amp; Fixes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Text 2"/>
          <p:cNvSpPr/>
          <p:nvPr/>
        </p:nvSpPr>
        <p:spPr>
          <a:xfrm>
            <a:off x="0" y="0"/>
            <a:ext cx="877752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0aeef"/>
                </a:solidFill>
                <a:latin typeface="Calibri"/>
                <a:ea typeface="Calibri"/>
              </a:rPr>
              <a:t>What we found and how we resolved it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Text 3"/>
          <p:cNvSpPr/>
          <p:nvPr/>
        </p:nvSpPr>
        <p:spPr>
          <a:xfrm>
            <a:off x="0" y="4864680"/>
            <a:ext cx="91432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8090a8"/>
                </a:solidFill>
                <a:latin typeface="Calibri"/>
                <a:ea typeface="Calibri"/>
              </a:rPr>
              <a:t>NTI Academic Success &amp; Intervention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Shape 4"/>
          <p:cNvSpPr/>
          <p:nvPr/>
        </p:nvSpPr>
        <p:spPr>
          <a:xfrm>
            <a:off x="274320" y="822960"/>
            <a:ext cx="8594640" cy="694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f0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Shape 5"/>
          <p:cNvSpPr/>
          <p:nvPr/>
        </p:nvSpPr>
        <p:spPr>
          <a:xfrm>
            <a:off x="274320" y="822960"/>
            <a:ext cx="72360" cy="694080"/>
          </a:xfrm>
          <a:prstGeom prst="rect">
            <a:avLst/>
          </a:prstGeom>
          <a:solidFill>
            <a:srgbClr val="2e6cb8"/>
          </a:solidFill>
          <a:ln w="12700">
            <a:solidFill>
              <a:srgbClr val="2e6cb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5" name="Text 6"/>
          <p:cNvSpPr/>
          <p:nvPr/>
        </p:nvSpPr>
        <p:spPr>
          <a:xfrm>
            <a:off x="502920" y="859680"/>
            <a:ext cx="25596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1a2a3a"/>
                </a:solidFill>
                <a:latin typeface="Calibri"/>
                <a:ea typeface="Calibri"/>
              </a:rPr>
              <a:t>Date_of_Birth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Text 7"/>
          <p:cNvSpPr/>
          <p:nvPr/>
        </p:nvSpPr>
        <p:spPr>
          <a:xfrm>
            <a:off x="502920" y="1170360"/>
            <a:ext cx="255960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8090a8"/>
                </a:solidFill>
                <a:latin typeface="Calibri"/>
                <a:ea typeface="Calibri"/>
              </a:rPr>
              <a:t>Two date formats (ISO &amp; US)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Text 8"/>
          <p:cNvSpPr/>
          <p:nvPr/>
        </p:nvSpPr>
        <p:spPr>
          <a:xfrm>
            <a:off x="3154680" y="859680"/>
            <a:ext cx="54792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8090a8"/>
                </a:solidFill>
                <a:latin typeface="Calibri"/>
                <a:ea typeface="Calibri"/>
              </a:rPr>
              <a:t>Issue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Text 9"/>
          <p:cNvSpPr/>
          <p:nvPr/>
        </p:nvSpPr>
        <p:spPr>
          <a:xfrm>
            <a:off x="3154680" y="1024200"/>
            <a:ext cx="36504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2e6cb8"/>
                </a:solidFill>
                <a:latin typeface="Calibri"/>
                <a:ea typeface="Calibri"/>
              </a:rPr>
              <a:t>→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Text 10"/>
          <p:cNvSpPr/>
          <p:nvPr/>
        </p:nvSpPr>
        <p:spPr>
          <a:xfrm>
            <a:off x="3611880" y="859680"/>
            <a:ext cx="45648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8090a8"/>
                </a:solidFill>
                <a:latin typeface="Calibri"/>
                <a:ea typeface="Calibri"/>
              </a:rPr>
              <a:t>Fix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Text 11"/>
          <p:cNvSpPr/>
          <p:nvPr/>
        </p:nvSpPr>
        <p:spPr>
          <a:xfrm>
            <a:off x="3611880" y="1097280"/>
            <a:ext cx="516564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2e6cb8"/>
                </a:solidFill>
                <a:latin typeface="Calibri"/>
                <a:ea typeface="Calibri"/>
              </a:rPr>
              <a:t>pd.to_datetime(format='mixed')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Shape 12"/>
          <p:cNvSpPr/>
          <p:nvPr/>
        </p:nvSpPr>
        <p:spPr>
          <a:xfrm>
            <a:off x="274320" y="1609200"/>
            <a:ext cx="8594640" cy="694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f0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Shape 13"/>
          <p:cNvSpPr/>
          <p:nvPr/>
        </p:nvSpPr>
        <p:spPr>
          <a:xfrm>
            <a:off x="274320" y="1609200"/>
            <a:ext cx="72360" cy="694080"/>
          </a:xfrm>
          <a:prstGeom prst="rect">
            <a:avLst/>
          </a:prstGeom>
          <a:solidFill>
            <a:srgbClr val="00aeef"/>
          </a:solidFill>
          <a:ln w="12700">
            <a:solidFill>
              <a:srgbClr val="00ae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3" name="Text 14"/>
          <p:cNvSpPr/>
          <p:nvPr/>
        </p:nvSpPr>
        <p:spPr>
          <a:xfrm>
            <a:off x="502920" y="1645920"/>
            <a:ext cx="25596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1a2a3a"/>
                </a:solidFill>
                <a:latin typeface="Calibri"/>
                <a:ea typeface="Calibri"/>
              </a:rPr>
              <a:t>Attendance_Status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Text 15"/>
          <p:cNvSpPr/>
          <p:nvPr/>
        </p:nvSpPr>
        <p:spPr>
          <a:xfrm>
            <a:off x="502920" y="1956960"/>
            <a:ext cx="255960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8090a8"/>
                </a:solidFill>
                <a:latin typeface="Calibri"/>
                <a:ea typeface="Calibri"/>
              </a:rPr>
              <a:t>Casing inconsistencies + 'absnt' typo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Text 16"/>
          <p:cNvSpPr/>
          <p:nvPr/>
        </p:nvSpPr>
        <p:spPr>
          <a:xfrm>
            <a:off x="3154680" y="1645920"/>
            <a:ext cx="54792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8090a8"/>
                </a:solidFill>
                <a:latin typeface="Calibri"/>
                <a:ea typeface="Calibri"/>
              </a:rPr>
              <a:t>Issue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Text 17"/>
          <p:cNvSpPr/>
          <p:nvPr/>
        </p:nvSpPr>
        <p:spPr>
          <a:xfrm>
            <a:off x="3154680" y="1810440"/>
            <a:ext cx="36504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00aeef"/>
                </a:solidFill>
                <a:latin typeface="Calibri"/>
                <a:ea typeface="Calibri"/>
              </a:rPr>
              <a:t>→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" name="Text 18"/>
          <p:cNvSpPr/>
          <p:nvPr/>
        </p:nvSpPr>
        <p:spPr>
          <a:xfrm>
            <a:off x="3611880" y="1645920"/>
            <a:ext cx="45648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8090a8"/>
                </a:solidFill>
                <a:latin typeface="Calibri"/>
                <a:ea typeface="Calibri"/>
              </a:rPr>
              <a:t>Fix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Text 19"/>
          <p:cNvSpPr/>
          <p:nvPr/>
        </p:nvSpPr>
        <p:spPr>
          <a:xfrm>
            <a:off x="3611880" y="1883520"/>
            <a:ext cx="516564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aeef"/>
                </a:solidFill>
                <a:latin typeface="Calibri"/>
                <a:ea typeface="Calibri"/>
              </a:rPr>
              <a:t>str.upper() + map + ABSNT→ABSENT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Shape 20"/>
          <p:cNvSpPr/>
          <p:nvPr/>
        </p:nvSpPr>
        <p:spPr>
          <a:xfrm>
            <a:off x="274320" y="2395800"/>
            <a:ext cx="8594640" cy="694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f0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Shape 21"/>
          <p:cNvSpPr/>
          <p:nvPr/>
        </p:nvSpPr>
        <p:spPr>
          <a:xfrm>
            <a:off x="274320" y="2395800"/>
            <a:ext cx="72360" cy="694080"/>
          </a:xfrm>
          <a:prstGeom prst="rect">
            <a:avLst/>
          </a:prstGeom>
          <a:solidFill>
            <a:srgbClr val="00c49a"/>
          </a:solidFill>
          <a:ln w="12700">
            <a:solidFill>
              <a:srgbClr val="00c4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1" name="Text 22"/>
          <p:cNvSpPr/>
          <p:nvPr/>
        </p:nvSpPr>
        <p:spPr>
          <a:xfrm>
            <a:off x="502920" y="2432160"/>
            <a:ext cx="25596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1a2a3a"/>
                </a:solidFill>
                <a:latin typeface="Calibri"/>
                <a:ea typeface="Calibri"/>
              </a:rPr>
              <a:t>homework.Status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Text 23"/>
          <p:cNvSpPr/>
          <p:nvPr/>
        </p:nvSpPr>
        <p:spPr>
          <a:xfrm>
            <a:off x="502920" y="2743200"/>
            <a:ext cx="255960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8090a8"/>
                </a:solidFill>
                <a:latin typeface="Calibri"/>
                <a:ea typeface="Calibri"/>
              </a:rPr>
              <a:t>Emoji + text variants mixed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Text 24"/>
          <p:cNvSpPr/>
          <p:nvPr/>
        </p:nvSpPr>
        <p:spPr>
          <a:xfrm>
            <a:off x="3154680" y="2432160"/>
            <a:ext cx="54792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8090a8"/>
                </a:solidFill>
                <a:latin typeface="Calibri"/>
                <a:ea typeface="Calibri"/>
              </a:rPr>
              <a:t>Issue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" name="Text 25"/>
          <p:cNvSpPr/>
          <p:nvPr/>
        </p:nvSpPr>
        <p:spPr>
          <a:xfrm>
            <a:off x="3154680" y="2597040"/>
            <a:ext cx="36504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00c49a"/>
                </a:solidFill>
                <a:latin typeface="Calibri"/>
                <a:ea typeface="Calibri"/>
              </a:rPr>
              <a:t>→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Text 26"/>
          <p:cNvSpPr/>
          <p:nvPr/>
        </p:nvSpPr>
        <p:spPr>
          <a:xfrm>
            <a:off x="3611880" y="2432160"/>
            <a:ext cx="45648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8090a8"/>
                </a:solidFill>
                <a:latin typeface="Calibri"/>
                <a:ea typeface="Calibri"/>
              </a:rPr>
              <a:t>Fix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Text 27"/>
          <p:cNvSpPr/>
          <p:nvPr/>
        </p:nvSpPr>
        <p:spPr>
          <a:xfrm>
            <a:off x="3611880" y="2670120"/>
            <a:ext cx="516564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c49a"/>
                </a:solidFill>
                <a:latin typeface="Calibri"/>
                <a:ea typeface="Calibri"/>
              </a:rPr>
              <a:t>Set-based mapping → Done | Not Done | Pending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Shape 28"/>
          <p:cNvSpPr/>
          <p:nvPr/>
        </p:nvSpPr>
        <p:spPr>
          <a:xfrm>
            <a:off x="274320" y="3182040"/>
            <a:ext cx="8594640" cy="694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f0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" name="Shape 29"/>
          <p:cNvSpPr/>
          <p:nvPr/>
        </p:nvSpPr>
        <p:spPr>
          <a:xfrm>
            <a:off x="274320" y="3182040"/>
            <a:ext cx="72360" cy="6940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Text 30"/>
          <p:cNvSpPr/>
          <p:nvPr/>
        </p:nvSpPr>
        <p:spPr>
          <a:xfrm>
            <a:off x="502920" y="3218760"/>
            <a:ext cx="25596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1a2a3a"/>
                </a:solidFill>
                <a:latin typeface="Calibri"/>
                <a:ea typeface="Calibri"/>
              </a:rPr>
              <a:t>Guardian_Signature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Text 31"/>
          <p:cNvSpPr/>
          <p:nvPr/>
        </p:nvSpPr>
        <p:spPr>
          <a:xfrm>
            <a:off x="502920" y="3529440"/>
            <a:ext cx="255960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8090a8"/>
                </a:solidFill>
                <a:latin typeface="Calibri"/>
                <a:ea typeface="Calibri"/>
              </a:rPr>
              <a:t>Imported as BIT — blanks not NULL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Text 32"/>
          <p:cNvSpPr/>
          <p:nvPr/>
        </p:nvSpPr>
        <p:spPr>
          <a:xfrm>
            <a:off x="3154680" y="3218760"/>
            <a:ext cx="54792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8090a8"/>
                </a:solidFill>
                <a:latin typeface="Calibri"/>
                <a:ea typeface="Calibri"/>
              </a:rPr>
              <a:t>Issue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Text 33"/>
          <p:cNvSpPr/>
          <p:nvPr/>
        </p:nvSpPr>
        <p:spPr>
          <a:xfrm>
            <a:off x="3154680" y="3383280"/>
            <a:ext cx="36504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59e0b"/>
                </a:solidFill>
                <a:latin typeface="Calibri"/>
                <a:ea typeface="Calibri"/>
              </a:rPr>
              <a:t>→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" name="Text 34"/>
          <p:cNvSpPr/>
          <p:nvPr/>
        </p:nvSpPr>
        <p:spPr>
          <a:xfrm>
            <a:off x="3611880" y="3218760"/>
            <a:ext cx="45648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8090a8"/>
                </a:solidFill>
                <a:latin typeface="Calibri"/>
                <a:ea typeface="Calibri"/>
              </a:rPr>
              <a:t>Fix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Text 35"/>
          <p:cNvSpPr/>
          <p:nvPr/>
        </p:nvSpPr>
        <p:spPr>
          <a:xfrm>
            <a:off x="3611880" y="3456360"/>
            <a:ext cx="516564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59e0b"/>
                </a:solidFill>
                <a:latin typeface="Calibri"/>
                <a:ea typeface="Calibri"/>
              </a:rPr>
              <a:t>CAST in SQL + fillna(False) in Python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Shape 36"/>
          <p:cNvSpPr/>
          <p:nvPr/>
        </p:nvSpPr>
        <p:spPr>
          <a:xfrm>
            <a:off x="274320" y="3968640"/>
            <a:ext cx="8594640" cy="694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f0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Shape 37"/>
          <p:cNvSpPr/>
          <p:nvPr/>
        </p:nvSpPr>
        <p:spPr>
          <a:xfrm>
            <a:off x="274320" y="3968640"/>
            <a:ext cx="72360" cy="69408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7" name="Text 38"/>
          <p:cNvSpPr/>
          <p:nvPr/>
        </p:nvSpPr>
        <p:spPr>
          <a:xfrm>
            <a:off x="502920" y="4005000"/>
            <a:ext cx="25596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1a2a3a"/>
                </a:solidFill>
                <a:latin typeface="Calibri"/>
                <a:ea typeface="Calibri"/>
              </a:rPr>
              <a:t>Homework_Completion_%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Text 39"/>
          <p:cNvSpPr/>
          <p:nvPr/>
        </p:nvSpPr>
        <p:spPr>
          <a:xfrm>
            <a:off x="502920" y="4316040"/>
            <a:ext cx="255960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8090a8"/>
                </a:solidFill>
                <a:latin typeface="Calibri"/>
                <a:ea typeface="Calibri"/>
              </a:rPr>
              <a:t>-5 invalid values + mixed % suffix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Text 40"/>
          <p:cNvSpPr/>
          <p:nvPr/>
        </p:nvSpPr>
        <p:spPr>
          <a:xfrm>
            <a:off x="3154680" y="4005000"/>
            <a:ext cx="54792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8090a8"/>
                </a:solidFill>
                <a:latin typeface="Calibri"/>
                <a:ea typeface="Calibri"/>
              </a:rPr>
              <a:t>Issue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Text 41"/>
          <p:cNvSpPr/>
          <p:nvPr/>
        </p:nvSpPr>
        <p:spPr>
          <a:xfrm>
            <a:off x="3154680" y="4169520"/>
            <a:ext cx="36504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8b5cf6"/>
                </a:solidFill>
                <a:latin typeface="Calibri"/>
                <a:ea typeface="Calibri"/>
              </a:rPr>
              <a:t>→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Text 42"/>
          <p:cNvSpPr/>
          <p:nvPr/>
        </p:nvSpPr>
        <p:spPr>
          <a:xfrm>
            <a:off x="3611880" y="4005000"/>
            <a:ext cx="45648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8090a8"/>
                </a:solidFill>
                <a:latin typeface="Calibri"/>
                <a:ea typeface="Calibri"/>
              </a:rPr>
              <a:t>Fix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Text 43"/>
          <p:cNvSpPr/>
          <p:nvPr/>
        </p:nvSpPr>
        <p:spPr>
          <a:xfrm>
            <a:off x="3611880" y="4242960"/>
            <a:ext cx="516564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8b5cf6"/>
                </a:solidFill>
                <a:latin typeface="Calibri"/>
                <a:ea typeface="Calibri"/>
              </a:rPr>
              <a:t>Strip %, cast float, -5 → NaN, subject median fill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Shape 0"/>
          <p:cNvSpPr/>
          <p:nvPr/>
        </p:nvSpPr>
        <p:spPr>
          <a:xfrm>
            <a:off x="0" y="0"/>
            <a:ext cx="9143280" cy="65772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4" name="Text 1"/>
          <p:cNvSpPr/>
          <p:nvPr/>
        </p:nvSpPr>
        <p:spPr>
          <a:xfrm>
            <a:off x="365760" y="0"/>
            <a:ext cx="685728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libri"/>
                <a:ea typeface="Calibri"/>
              </a:rPr>
              <a:t>Recommendations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Text 2"/>
          <p:cNvSpPr/>
          <p:nvPr/>
        </p:nvSpPr>
        <p:spPr>
          <a:xfrm>
            <a:off x="0" y="0"/>
            <a:ext cx="877752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0aeef"/>
                </a:solidFill>
                <a:latin typeface="Calibri"/>
                <a:ea typeface="Calibri"/>
              </a:rPr>
              <a:t>What the data is telling us to do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Text 3"/>
          <p:cNvSpPr/>
          <p:nvPr/>
        </p:nvSpPr>
        <p:spPr>
          <a:xfrm>
            <a:off x="0" y="4864680"/>
            <a:ext cx="91432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8090a8"/>
                </a:solidFill>
                <a:latin typeface="Calibri"/>
                <a:ea typeface="Calibri"/>
              </a:rPr>
              <a:t>NTI Academic Success &amp; Intervention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Shape 4"/>
          <p:cNvSpPr/>
          <p:nvPr/>
        </p:nvSpPr>
        <p:spPr>
          <a:xfrm>
            <a:off x="274320" y="822960"/>
            <a:ext cx="4205520" cy="1261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f0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Shape 5"/>
          <p:cNvSpPr/>
          <p:nvPr/>
        </p:nvSpPr>
        <p:spPr>
          <a:xfrm>
            <a:off x="274320" y="822960"/>
            <a:ext cx="4205520" cy="63360"/>
          </a:xfrm>
          <a:prstGeom prst="rect">
            <a:avLst/>
          </a:prstGeom>
          <a:solidFill>
            <a:srgbClr val="2e6cb8"/>
          </a:solidFill>
          <a:ln w="12700">
            <a:solidFill>
              <a:srgbClr val="2e6cb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9" name="Text 6"/>
          <p:cNvSpPr/>
          <p:nvPr/>
        </p:nvSpPr>
        <p:spPr>
          <a:xfrm>
            <a:off x="384120" y="914400"/>
            <a:ext cx="45648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2e6cb8"/>
                </a:solidFill>
                <a:latin typeface="Calibri Black"/>
                <a:ea typeface="Calibri Black"/>
              </a:rPr>
              <a:t>01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Text 7"/>
          <p:cNvSpPr/>
          <p:nvPr/>
        </p:nvSpPr>
        <p:spPr>
          <a:xfrm>
            <a:off x="896040" y="914400"/>
            <a:ext cx="34740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a2a3a"/>
                </a:solidFill>
                <a:latin typeface="Calibri"/>
                <a:ea typeface="Calibri"/>
              </a:rPr>
              <a:t>Deploy the Intervention List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Text 8"/>
          <p:cNvSpPr/>
          <p:nvPr/>
        </p:nvSpPr>
        <p:spPr>
          <a:xfrm>
            <a:off x="384120" y="1334880"/>
            <a:ext cx="397692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8090a8"/>
                </a:solidFill>
                <a:latin typeface="Calibri"/>
                <a:ea typeface="Calibri"/>
              </a:rPr>
              <a:t>Use the At-Risk page as a live working tool. Each row is a student requiring a direct conversation before year-end.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Shape 9"/>
          <p:cNvSpPr/>
          <p:nvPr/>
        </p:nvSpPr>
        <p:spPr>
          <a:xfrm>
            <a:off x="274320" y="2212920"/>
            <a:ext cx="4205520" cy="1261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f0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Shape 10"/>
          <p:cNvSpPr/>
          <p:nvPr/>
        </p:nvSpPr>
        <p:spPr>
          <a:xfrm>
            <a:off x="274320" y="2212920"/>
            <a:ext cx="4205520" cy="63360"/>
          </a:xfrm>
          <a:prstGeom prst="rect">
            <a:avLst/>
          </a:prstGeom>
          <a:solidFill>
            <a:srgbClr val="e05c2a"/>
          </a:solidFill>
          <a:ln w="12700">
            <a:solidFill>
              <a:srgbClr val="e05c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4" name="Text 11"/>
          <p:cNvSpPr/>
          <p:nvPr/>
        </p:nvSpPr>
        <p:spPr>
          <a:xfrm>
            <a:off x="384120" y="2304360"/>
            <a:ext cx="45648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e05c2a"/>
                </a:solidFill>
                <a:latin typeface="Calibri Black"/>
                <a:ea typeface="Calibri Black"/>
              </a:rPr>
              <a:t>02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Text 12"/>
          <p:cNvSpPr/>
          <p:nvPr/>
        </p:nvSpPr>
        <p:spPr>
          <a:xfrm>
            <a:off x="896040" y="2304360"/>
            <a:ext cx="34740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a2a3a"/>
                </a:solidFill>
                <a:latin typeface="Calibri"/>
                <a:ea typeface="Calibri"/>
              </a:rPr>
              <a:t>Fix Grade 1 Communication Gap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" name="Text 13"/>
          <p:cNvSpPr/>
          <p:nvPr/>
        </p:nvSpPr>
        <p:spPr>
          <a:xfrm>
            <a:off x="384120" y="2724840"/>
            <a:ext cx="397692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8090a8"/>
                </a:solidFill>
                <a:latin typeface="Calibri"/>
                <a:ea typeface="Calibri"/>
              </a:rPr>
              <a:t>14.73% of Grade 1 students have zero contact. Youngest students need the most parental engagement — build a structured onboarding protocol.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" name="Shape 14"/>
          <p:cNvSpPr/>
          <p:nvPr/>
        </p:nvSpPr>
        <p:spPr>
          <a:xfrm>
            <a:off x="274320" y="3602880"/>
            <a:ext cx="4205520" cy="1261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f0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" name="Shape 15"/>
          <p:cNvSpPr/>
          <p:nvPr/>
        </p:nvSpPr>
        <p:spPr>
          <a:xfrm>
            <a:off x="274320" y="3602880"/>
            <a:ext cx="4205520" cy="6336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9" name="Text 16"/>
          <p:cNvSpPr/>
          <p:nvPr/>
        </p:nvSpPr>
        <p:spPr>
          <a:xfrm>
            <a:off x="384120" y="3694320"/>
            <a:ext cx="45648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8b5cf6"/>
                </a:solidFill>
                <a:latin typeface="Calibri Black"/>
                <a:ea typeface="Calibri Black"/>
              </a:rPr>
              <a:t>03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Text 17"/>
          <p:cNvSpPr/>
          <p:nvPr/>
        </p:nvSpPr>
        <p:spPr>
          <a:xfrm>
            <a:off x="896040" y="3694320"/>
            <a:ext cx="34740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a2a3a"/>
                </a:solidFill>
                <a:latin typeface="Calibri"/>
                <a:ea typeface="Calibri"/>
              </a:rPr>
              <a:t>Rethink Communication Strategy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" name="Text 18"/>
          <p:cNvSpPr/>
          <p:nvPr/>
        </p:nvSpPr>
        <p:spPr>
          <a:xfrm>
            <a:off x="384120" y="4114800"/>
            <a:ext cx="397692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8090a8"/>
                </a:solidFill>
                <a:latin typeface="Calibri"/>
                <a:ea typeface="Calibri"/>
              </a:rPr>
              <a:t>~200 at-risk students have active contact but declining performance. Volume is not the problem — quality and follow-through are.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" name="Shape 19"/>
          <p:cNvSpPr/>
          <p:nvPr/>
        </p:nvSpPr>
        <p:spPr>
          <a:xfrm>
            <a:off x="4709160" y="822960"/>
            <a:ext cx="4205520" cy="1261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f0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" name="Shape 20"/>
          <p:cNvSpPr/>
          <p:nvPr/>
        </p:nvSpPr>
        <p:spPr>
          <a:xfrm>
            <a:off x="4709160" y="822960"/>
            <a:ext cx="4205520" cy="63360"/>
          </a:xfrm>
          <a:prstGeom prst="rect">
            <a:avLst/>
          </a:prstGeom>
          <a:solidFill>
            <a:srgbClr val="00aeef"/>
          </a:solidFill>
          <a:ln w="12700">
            <a:solidFill>
              <a:srgbClr val="00ae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4" name="Text 21"/>
          <p:cNvSpPr/>
          <p:nvPr/>
        </p:nvSpPr>
        <p:spPr>
          <a:xfrm>
            <a:off x="4818960" y="914400"/>
            <a:ext cx="45648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00aeef"/>
                </a:solidFill>
                <a:latin typeface="Calibri Black"/>
                <a:ea typeface="Calibri Black"/>
              </a:rPr>
              <a:t>04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" name="Text 22"/>
          <p:cNvSpPr/>
          <p:nvPr/>
        </p:nvSpPr>
        <p:spPr>
          <a:xfrm>
            <a:off x="5330880" y="914400"/>
            <a:ext cx="34740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a2a3a"/>
                </a:solidFill>
                <a:latin typeface="Calibri"/>
                <a:ea typeface="Calibri"/>
              </a:rPr>
              <a:t>Fix Data at Entry Point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Text 23"/>
          <p:cNvSpPr/>
          <p:nvPr/>
        </p:nvSpPr>
        <p:spPr>
          <a:xfrm>
            <a:off x="4818960" y="1334880"/>
            <a:ext cx="397692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8090a8"/>
                </a:solidFill>
                <a:latin typeface="Calibri"/>
                <a:ea typeface="Calibri"/>
              </a:rPr>
              <a:t>Attendance typos, emoji status fields, and mixed date formats indicate no input validation. Standardize at source before the next year.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Shape 24"/>
          <p:cNvSpPr/>
          <p:nvPr/>
        </p:nvSpPr>
        <p:spPr>
          <a:xfrm>
            <a:off x="4709160" y="2212920"/>
            <a:ext cx="4205520" cy="1261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f0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" name="Shape 25"/>
          <p:cNvSpPr/>
          <p:nvPr/>
        </p:nvSpPr>
        <p:spPr>
          <a:xfrm>
            <a:off x="4709160" y="2212920"/>
            <a:ext cx="4205520" cy="63360"/>
          </a:xfrm>
          <a:prstGeom prst="rect">
            <a:avLst/>
          </a:prstGeom>
          <a:solidFill>
            <a:srgbClr val="00c49a"/>
          </a:solidFill>
          <a:ln w="12700">
            <a:solidFill>
              <a:srgbClr val="00c4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9" name="Text 26"/>
          <p:cNvSpPr/>
          <p:nvPr/>
        </p:nvSpPr>
        <p:spPr>
          <a:xfrm>
            <a:off x="4818960" y="2304360"/>
            <a:ext cx="45648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00c49a"/>
                </a:solidFill>
                <a:latin typeface="Calibri Black"/>
                <a:ea typeface="Calibri Black"/>
              </a:rPr>
              <a:t>05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" name="Text 27"/>
          <p:cNvSpPr/>
          <p:nvPr/>
        </p:nvSpPr>
        <p:spPr>
          <a:xfrm>
            <a:off x="5330880" y="2304360"/>
            <a:ext cx="34740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a2a3a"/>
                </a:solidFill>
                <a:latin typeface="Calibri"/>
                <a:ea typeface="Calibri"/>
              </a:rPr>
              <a:t>Build a Trend Detection Model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Text 28"/>
          <p:cNvSpPr/>
          <p:nvPr/>
        </p:nvSpPr>
        <p:spPr>
          <a:xfrm>
            <a:off x="4818960" y="2724840"/>
            <a:ext cx="397692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8090a8"/>
                </a:solidFill>
                <a:latin typeface="Calibri"/>
                <a:ea typeface="Calibri"/>
              </a:rPr>
              <a:t>Add individual-level attendance trend monitoring. Flag students before they cross the at-risk threshold, not after.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Shape 29"/>
          <p:cNvSpPr/>
          <p:nvPr/>
        </p:nvSpPr>
        <p:spPr>
          <a:xfrm>
            <a:off x="4709160" y="3602880"/>
            <a:ext cx="4205520" cy="1261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f0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Shape 30"/>
          <p:cNvSpPr/>
          <p:nvPr/>
        </p:nvSpPr>
        <p:spPr>
          <a:xfrm>
            <a:off x="4709160" y="3602880"/>
            <a:ext cx="4205520" cy="633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" name="Text 31"/>
          <p:cNvSpPr/>
          <p:nvPr/>
        </p:nvSpPr>
        <p:spPr>
          <a:xfrm>
            <a:off x="4818960" y="3694320"/>
            <a:ext cx="45648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59e0b"/>
                </a:solidFill>
                <a:latin typeface="Calibri Black"/>
                <a:ea typeface="Calibri Black"/>
              </a:rPr>
              <a:t>06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Text 32"/>
          <p:cNvSpPr/>
          <p:nvPr/>
        </p:nvSpPr>
        <p:spPr>
          <a:xfrm>
            <a:off x="5330880" y="3694320"/>
            <a:ext cx="34740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a2a3a"/>
                </a:solidFill>
                <a:latin typeface="Calibri"/>
                <a:ea typeface="Calibri"/>
              </a:rPr>
              <a:t>Subject-Level Performance Model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Text 33"/>
          <p:cNvSpPr/>
          <p:nvPr/>
        </p:nvSpPr>
        <p:spPr>
          <a:xfrm>
            <a:off x="4818960" y="4114800"/>
            <a:ext cx="397692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8090a8"/>
                </a:solidFill>
                <a:latin typeface="Calibri"/>
                <a:ea typeface="Calibri"/>
              </a:rPr>
              <a:t>Determine whether a student's low score is isolated to one subject or signals a broader academic decline across all subjects.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Shape 0"/>
          <p:cNvSpPr/>
          <p:nvPr/>
        </p:nvSpPr>
        <p:spPr>
          <a:xfrm>
            <a:off x="0" y="0"/>
            <a:ext cx="9143280" cy="514296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8" name="Shape 1"/>
          <p:cNvSpPr/>
          <p:nvPr/>
        </p:nvSpPr>
        <p:spPr>
          <a:xfrm>
            <a:off x="0" y="0"/>
            <a:ext cx="9143280" cy="54000"/>
          </a:xfrm>
          <a:prstGeom prst="rect">
            <a:avLst/>
          </a:prstGeom>
          <a:solidFill>
            <a:srgbClr val="00aeef"/>
          </a:solidFill>
          <a:ln w="12700">
            <a:solidFill>
              <a:srgbClr val="00ae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9" name="Shape 2"/>
          <p:cNvSpPr/>
          <p:nvPr/>
        </p:nvSpPr>
        <p:spPr>
          <a:xfrm>
            <a:off x="0" y="5088600"/>
            <a:ext cx="9143280" cy="54000"/>
          </a:xfrm>
          <a:prstGeom prst="rect">
            <a:avLst/>
          </a:prstGeom>
          <a:solidFill>
            <a:srgbClr val="00aeef"/>
          </a:solidFill>
          <a:ln w="12700">
            <a:solidFill>
              <a:srgbClr val="00ae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0" name="Text 3"/>
          <p:cNvSpPr/>
          <p:nvPr/>
        </p:nvSpPr>
        <p:spPr>
          <a:xfrm>
            <a:off x="457200" y="548640"/>
            <a:ext cx="8228880" cy="100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5200" spc="-1" strike="noStrike">
                <a:solidFill>
                  <a:srgbClr val="ffffff"/>
                </a:solidFill>
                <a:latin typeface="Calibri Black"/>
                <a:ea typeface="Calibri Black"/>
              </a:rPr>
              <a:t>Thank You</a:t>
            </a:r>
            <a:endParaRPr b="0" lang="en-US" sz="5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1" name="Text 4"/>
          <p:cNvSpPr/>
          <p:nvPr/>
        </p:nvSpPr>
        <p:spPr>
          <a:xfrm>
            <a:off x="457200" y="1600200"/>
            <a:ext cx="82288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00aeef"/>
                </a:solidFill>
                <a:latin typeface="Calibri"/>
                <a:ea typeface="Calibri"/>
              </a:rPr>
              <a:t>NTI Academic Success &amp; Intervention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2" name="Shape 5"/>
          <p:cNvSpPr/>
          <p:nvPr/>
        </p:nvSpPr>
        <p:spPr>
          <a:xfrm>
            <a:off x="3200400" y="2240280"/>
            <a:ext cx="2743200" cy="360"/>
          </a:xfrm>
          <a:prstGeom prst="line">
            <a:avLst/>
          </a:prstGeom>
          <a:ln w="12700">
            <a:solidFill>
              <a:srgbClr val="00ae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3" name="Text 6"/>
          <p:cNvSpPr/>
          <p:nvPr/>
        </p:nvSpPr>
        <p:spPr>
          <a:xfrm>
            <a:off x="457200" y="2377440"/>
            <a:ext cx="20109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0aeef"/>
                </a:solidFill>
                <a:latin typeface="Calibri"/>
                <a:ea typeface="Calibri"/>
              </a:rPr>
              <a:t>Portfolio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4" name="Text 7"/>
          <p:cNvSpPr/>
          <p:nvPr/>
        </p:nvSpPr>
        <p:spPr>
          <a:xfrm>
            <a:off x="457200" y="2651760"/>
            <a:ext cx="201096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8090a8"/>
                </a:solidFill>
                <a:latin typeface="Calibri"/>
                <a:ea typeface="Calibri"/>
              </a:rPr>
              <a:t>nourhatem.web.app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5" name="Text 8"/>
          <p:cNvSpPr/>
          <p:nvPr/>
        </p:nvSpPr>
        <p:spPr>
          <a:xfrm>
            <a:off x="2651760" y="2377440"/>
            <a:ext cx="20109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0aeef"/>
                </a:solidFill>
                <a:latin typeface="Calibri"/>
                <a:ea typeface="Calibri"/>
              </a:rPr>
              <a:t>LinkedIn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6" name="Text 9"/>
          <p:cNvSpPr/>
          <p:nvPr/>
        </p:nvSpPr>
        <p:spPr>
          <a:xfrm>
            <a:off x="2651760" y="2651760"/>
            <a:ext cx="201096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8090a8"/>
                </a:solidFill>
                <a:latin typeface="Calibri"/>
                <a:ea typeface="Calibri"/>
              </a:rPr>
              <a:t>linkedin.com/in/nour-hatem-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7" name="Text 10"/>
          <p:cNvSpPr/>
          <p:nvPr/>
        </p:nvSpPr>
        <p:spPr>
          <a:xfrm>
            <a:off x="4846320" y="2377440"/>
            <a:ext cx="20109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0aeef"/>
                </a:solidFill>
                <a:latin typeface="Calibri"/>
                <a:ea typeface="Calibri"/>
              </a:rPr>
              <a:t>Kaggle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8" name="Text 11"/>
          <p:cNvSpPr/>
          <p:nvPr/>
        </p:nvSpPr>
        <p:spPr>
          <a:xfrm>
            <a:off x="4846320" y="2651760"/>
            <a:ext cx="201096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8090a8"/>
                </a:solidFill>
                <a:latin typeface="Calibri"/>
                <a:ea typeface="Calibri"/>
              </a:rPr>
              <a:t>kaggle.com/nourelhashash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9" name="Text 12"/>
          <p:cNvSpPr/>
          <p:nvPr/>
        </p:nvSpPr>
        <p:spPr>
          <a:xfrm>
            <a:off x="7040880" y="2377440"/>
            <a:ext cx="20109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0aeef"/>
                </a:solidFill>
                <a:latin typeface="Calibri"/>
                <a:ea typeface="Calibri"/>
              </a:rPr>
              <a:t>GitHub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0" name="Text 13"/>
          <p:cNvSpPr/>
          <p:nvPr/>
        </p:nvSpPr>
        <p:spPr>
          <a:xfrm>
            <a:off x="7040880" y="2651760"/>
            <a:ext cx="201096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8090a8"/>
                </a:solidFill>
                <a:latin typeface="Calibri"/>
                <a:ea typeface="Calibri"/>
              </a:rPr>
              <a:t>github.com/nour-hatem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1" name="Shape 14"/>
          <p:cNvSpPr/>
          <p:nvPr/>
        </p:nvSpPr>
        <p:spPr>
          <a:xfrm>
            <a:off x="731520" y="3246120"/>
            <a:ext cx="1645200" cy="1188000"/>
          </a:xfrm>
          <a:prstGeom prst="rect">
            <a:avLst/>
          </a:prstGeom>
          <a:solidFill>
            <a:srgbClr val="1a3c6b"/>
          </a:solidFill>
          <a:ln w="12700">
            <a:solidFill>
              <a:srgbClr val="1a3c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2" name="Text 15"/>
          <p:cNvSpPr/>
          <p:nvPr/>
        </p:nvSpPr>
        <p:spPr>
          <a:xfrm>
            <a:off x="731520" y="3310200"/>
            <a:ext cx="164520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00aeef"/>
                </a:solidFill>
                <a:latin typeface="Calibri Black"/>
                <a:ea typeface="Calibri Black"/>
              </a:rPr>
              <a:t>12,156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3" name="Text 16"/>
          <p:cNvSpPr/>
          <p:nvPr/>
        </p:nvSpPr>
        <p:spPr>
          <a:xfrm>
            <a:off x="731520" y="3931920"/>
            <a:ext cx="16452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8090a8"/>
                </a:solidFill>
                <a:latin typeface="Calibri"/>
                <a:ea typeface="Calibri"/>
              </a:rPr>
              <a:t>Students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4" name="Shape 17"/>
          <p:cNvSpPr/>
          <p:nvPr/>
        </p:nvSpPr>
        <p:spPr>
          <a:xfrm>
            <a:off x="2743200" y="3246120"/>
            <a:ext cx="1645200" cy="1188000"/>
          </a:xfrm>
          <a:prstGeom prst="rect">
            <a:avLst/>
          </a:prstGeom>
          <a:solidFill>
            <a:srgbClr val="1a3c6b"/>
          </a:solidFill>
          <a:ln w="12700">
            <a:solidFill>
              <a:srgbClr val="1a3c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5" name="Text 18"/>
          <p:cNvSpPr/>
          <p:nvPr/>
        </p:nvSpPr>
        <p:spPr>
          <a:xfrm>
            <a:off x="2743200" y="3310200"/>
            <a:ext cx="164520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00aeef"/>
                </a:solidFill>
                <a:latin typeface="Calibri Black"/>
                <a:ea typeface="Calibri Black"/>
              </a:rPr>
              <a:t>~2K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6" name="Text 19"/>
          <p:cNvSpPr/>
          <p:nvPr/>
        </p:nvSpPr>
        <p:spPr>
          <a:xfrm>
            <a:off x="2743200" y="3931920"/>
            <a:ext cx="16452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8090a8"/>
                </a:solidFill>
                <a:latin typeface="Calibri"/>
                <a:ea typeface="Calibri"/>
              </a:rPr>
              <a:t>At-Risk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7" name="Shape 20"/>
          <p:cNvSpPr/>
          <p:nvPr/>
        </p:nvSpPr>
        <p:spPr>
          <a:xfrm>
            <a:off x="4754880" y="3246120"/>
            <a:ext cx="1645200" cy="1188000"/>
          </a:xfrm>
          <a:prstGeom prst="rect">
            <a:avLst/>
          </a:prstGeom>
          <a:solidFill>
            <a:srgbClr val="1a3c6b"/>
          </a:solidFill>
          <a:ln w="12700">
            <a:solidFill>
              <a:srgbClr val="1a3c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8" name="Text 21"/>
          <p:cNvSpPr/>
          <p:nvPr/>
        </p:nvSpPr>
        <p:spPr>
          <a:xfrm>
            <a:off x="4754880" y="3310200"/>
            <a:ext cx="164520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00aeef"/>
                </a:solidFill>
                <a:latin typeface="Calibri Black"/>
                <a:ea typeface="Calibri Black"/>
              </a:rPr>
              <a:t>6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9" name="Text 22"/>
          <p:cNvSpPr/>
          <p:nvPr/>
        </p:nvSpPr>
        <p:spPr>
          <a:xfrm>
            <a:off x="4754880" y="3931920"/>
            <a:ext cx="16452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8090a8"/>
                </a:solidFill>
                <a:latin typeface="Calibri"/>
                <a:ea typeface="Calibri"/>
              </a:rPr>
              <a:t>Dashboard Pages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0" name="Shape 23"/>
          <p:cNvSpPr/>
          <p:nvPr/>
        </p:nvSpPr>
        <p:spPr>
          <a:xfrm>
            <a:off x="6766560" y="3246120"/>
            <a:ext cx="1645200" cy="1188000"/>
          </a:xfrm>
          <a:prstGeom prst="rect">
            <a:avLst/>
          </a:prstGeom>
          <a:solidFill>
            <a:srgbClr val="1a3c6b"/>
          </a:solidFill>
          <a:ln w="12700">
            <a:solidFill>
              <a:srgbClr val="1a3c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1" name="Text 24"/>
          <p:cNvSpPr/>
          <p:nvPr/>
        </p:nvSpPr>
        <p:spPr>
          <a:xfrm>
            <a:off x="6766560" y="3310200"/>
            <a:ext cx="164520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00aeef"/>
                </a:solidFill>
                <a:latin typeface="Calibri Black"/>
                <a:ea typeface="Calibri Black"/>
              </a:rPr>
              <a:t>3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2" name="Text 25"/>
          <p:cNvSpPr/>
          <p:nvPr/>
        </p:nvSpPr>
        <p:spPr>
          <a:xfrm>
            <a:off x="6766560" y="3931920"/>
            <a:ext cx="16452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8090a8"/>
                </a:solidFill>
                <a:latin typeface="Calibri"/>
                <a:ea typeface="Calibri"/>
              </a:rPr>
              <a:t>Pipeline Phases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3" name="Text 26"/>
          <p:cNvSpPr/>
          <p:nvPr/>
        </p:nvSpPr>
        <p:spPr>
          <a:xfrm>
            <a:off x="457200" y="4736520"/>
            <a:ext cx="8228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8090a8"/>
                </a:solidFill>
                <a:latin typeface="Calibri"/>
                <a:ea typeface="Calibri"/>
              </a:rPr>
              <a:t>NTI — Data Analysis Track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</TotalTime>
  <Application>LibreOffice/24.2.7.2$Linux_X86_64 LibreOffice_project/420$Build-2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2026-05-06T06:01:11Z</dcterms:created>
  <dc:creator>Nour Hatem</dc:creator>
  <dc:description/>
  <dc:language>en-US</dc:language>
  <cp:lastModifiedBy/>
  <dcterms:modified xsi:type="dcterms:W3CDTF">2026-05-06T11:35:56Z</dcterms:modified>
  <cp:revision>5</cp:revision>
  <dc:subject>PptxGenJS Presentation</dc:subject>
  <dc:title>NTI Academic Success &amp; Intervention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11</vt:i4>
  </property>
  <property fmtid="{D5CDD505-2E9C-101B-9397-08002B2CF9AE}" pid="3" name="PresentationFormat">
    <vt:lpwstr>On-screen Show (16:9)</vt:lpwstr>
  </property>
  <property fmtid="{D5CDD505-2E9C-101B-9397-08002B2CF9AE}" pid="4" name="Slides">
    <vt:i4>11</vt:i4>
  </property>
</Properties>
</file>